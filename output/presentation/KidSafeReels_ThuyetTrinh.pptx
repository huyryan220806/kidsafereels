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4dd171f9ad54abc" /><Relationship Type="http://schemas.openxmlformats.org/officeDocument/2006/relationships/extended-properties" Target="/docProps/app.xml" Id="R00d1d686baf94a99" /><Relationship Type="http://schemas.openxmlformats.org/officeDocument/2006/relationships/officeDocument" Target="/ppt/presentation.xml" Id="R886c237179f447e2" /></Relationships>
</file>

<file path=ppt/presentation.xml><?xml version="1.0" encoding="utf-8"?>
<p:presentation xmlns:p="http://schemas.openxmlformats.org/presentationml/2006/main">
  <p:sldMasterIdLst>
    <p:sldMasterId xmlns:r="http://schemas.openxmlformats.org/officeDocument/2006/relationships" id="2147483648" r:id="R0d8bd54bd8e740ad"/>
  </p:sldMasterIdLst>
  <p:notesMasterIdLst>
    <p:notesMasterId xmlns:r="http://schemas.openxmlformats.org/officeDocument/2006/relationships" r:id="R3595199b6cd34826"/>
  </p:notesMasterIdLst>
  <p:sldIdLst>
    <p:sldId xmlns:r="http://schemas.openxmlformats.org/officeDocument/2006/relationships" id="256" r:id="R18aeda25e43e49e8"/>
    <p:sldId xmlns:r="http://schemas.openxmlformats.org/officeDocument/2006/relationships" id="257" r:id="R1f6a5babeb5e4f0a"/>
    <p:sldId xmlns:r="http://schemas.openxmlformats.org/officeDocument/2006/relationships" id="258" r:id="R250c60b482a04530"/>
    <p:sldId xmlns:r="http://schemas.openxmlformats.org/officeDocument/2006/relationships" id="259" r:id="Rabeff66fe61443d2"/>
    <p:sldId xmlns:r="http://schemas.openxmlformats.org/officeDocument/2006/relationships" id="260" r:id="R7e4c1620219e40ba"/>
    <p:sldId xmlns:r="http://schemas.openxmlformats.org/officeDocument/2006/relationships" id="261" r:id="R83918a664ff54508"/>
    <p:sldId xmlns:r="http://schemas.openxmlformats.org/officeDocument/2006/relationships" id="262" r:id="Rd8b7bc5fd4284c2f"/>
    <p:sldId xmlns:r="http://schemas.openxmlformats.org/officeDocument/2006/relationships" id="263" r:id="Rc7929dc11e0b4630"/>
    <p:sldId xmlns:r="http://schemas.openxmlformats.org/officeDocument/2006/relationships" id="264" r:id="Rbdd6f9f40d554108"/>
    <p:sldId xmlns:r="http://schemas.openxmlformats.org/officeDocument/2006/relationships" id="265" r:id="Rf001f5426e014d21"/>
    <p:sldId xmlns:r="http://schemas.openxmlformats.org/officeDocument/2006/relationships" id="266" r:id="R1438579e2f8e40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47565d36e54a22" /><Relationship Type="http://schemas.openxmlformats.org/officeDocument/2006/relationships/slideMaster" Target="/ppt/slideMasters/slideMaster1.xml" Id="R0d8bd54bd8e740ad" /><Relationship Type="http://schemas.openxmlformats.org/officeDocument/2006/relationships/notesMaster" Target="/ppt/notesMasters/notesMaster1.xml" Id="R3595199b6cd34826" /><Relationship Type="http://schemas.openxmlformats.org/officeDocument/2006/relationships/presProps" Target="/ppt/presProps.xml" Id="R27fa3b9eb98e4d82" /><Relationship Type="http://schemas.openxmlformats.org/officeDocument/2006/relationships/tableStyles" Target="/ppt/tableStyles.xml" Id="R5b5e1f9750dd46fc" /><Relationship Type="http://schemas.openxmlformats.org/officeDocument/2006/relationships/slide" Target="/ppt/slides/slide1.xml" Id="R18aeda25e43e49e8" /><Relationship Type="http://schemas.openxmlformats.org/officeDocument/2006/relationships/slide" Target="/ppt/slides/slide2.xml" Id="R1f6a5babeb5e4f0a" /><Relationship Type="http://schemas.openxmlformats.org/officeDocument/2006/relationships/slide" Target="/ppt/slides/slide3.xml" Id="R250c60b482a04530" /><Relationship Type="http://schemas.openxmlformats.org/officeDocument/2006/relationships/slide" Target="/ppt/slides/slide4.xml" Id="Rabeff66fe61443d2" /><Relationship Type="http://schemas.openxmlformats.org/officeDocument/2006/relationships/slide" Target="/ppt/slides/slide5.xml" Id="R7e4c1620219e40ba" /><Relationship Type="http://schemas.openxmlformats.org/officeDocument/2006/relationships/slide" Target="/ppt/slides/slide6.xml" Id="R83918a664ff54508" /><Relationship Type="http://schemas.openxmlformats.org/officeDocument/2006/relationships/slide" Target="/ppt/slides/slide7.xml" Id="Rd8b7bc5fd4284c2f" /><Relationship Type="http://schemas.openxmlformats.org/officeDocument/2006/relationships/slide" Target="/ppt/slides/slide8.xml" Id="Rc7929dc11e0b4630" /><Relationship Type="http://schemas.openxmlformats.org/officeDocument/2006/relationships/slide" Target="/ppt/slides/slide9.xml" Id="Rbdd6f9f40d554108" /><Relationship Type="http://schemas.openxmlformats.org/officeDocument/2006/relationships/slide" Target="/ppt/slides/slide10.xml" Id="Rf001f5426e014d21" /><Relationship Type="http://schemas.openxmlformats.org/officeDocument/2006/relationships/slide" Target="/ppt/slides/slide11.xml" Id="R1438579e2f8e40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9c582f602742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3ebb452b0a436d" /><Relationship Type="http://schemas.openxmlformats.org/officeDocument/2006/relationships/notesMaster" Target="/ppt/notesMasters/notesMaster1.xml" Id="Ra526da18f95f4d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b9b14985af410a" /><Relationship Type="http://schemas.openxmlformats.org/officeDocument/2006/relationships/notesMaster" Target="/ppt/notesMasters/notesMaster1.xml" Id="R02b970af0c0641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133f52603842ca" /><Relationship Type="http://schemas.openxmlformats.org/officeDocument/2006/relationships/notesMaster" Target="/ppt/notesMasters/notesMaster1.xml" Id="R0d180b3dacf543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af8ca0596041cb" /><Relationship Type="http://schemas.openxmlformats.org/officeDocument/2006/relationships/notesMaster" Target="/ppt/notesMasters/notesMaster1.xml" Id="R0c9603faebfc41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d903fbaada4895" /><Relationship Type="http://schemas.openxmlformats.org/officeDocument/2006/relationships/notesMaster" Target="/ppt/notesMasters/notesMaster1.xml" Id="R041c26d714754d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221b29578a4680" /><Relationship Type="http://schemas.openxmlformats.org/officeDocument/2006/relationships/notesMaster" Target="/ppt/notesMasters/notesMaster1.xml" Id="R58aa09ddba8847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3e855d11e5446f" /><Relationship Type="http://schemas.openxmlformats.org/officeDocument/2006/relationships/notesMaster" Target="/ppt/notesMasters/notesMaster1.xml" Id="Rf210737f23024b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bc8bb8596c44b7" /><Relationship Type="http://schemas.openxmlformats.org/officeDocument/2006/relationships/notesMaster" Target="/ppt/notesMasters/notesMaster1.xml" Id="R8413f05f2d934b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6b313c9c414548" /><Relationship Type="http://schemas.openxmlformats.org/officeDocument/2006/relationships/notesMaster" Target="/ppt/notesMasters/notesMaster1.xml" Id="R5a0ff10c5faf43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78e489a5c54c81" /><Relationship Type="http://schemas.openxmlformats.org/officeDocument/2006/relationships/notesMaster" Target="/ppt/notesMasters/notesMaster1.xml" Id="R1fd57bd087c148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54fa989b5504eb6" /><Relationship Type="http://schemas.openxmlformats.org/officeDocument/2006/relationships/notesMaster" Target="/ppt/notesMasters/notesMaster1.xml" Id="Re2fc18ad080b45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khoảng 20 giây. Giới thiệu bài toán sàng lọc video trước khi người lớn cho trẻ xem. Nhóm làm phạm vi hai nhãn và dùng CPU.</a:t>
            </a:r>
          </a:p>
          <a:p xmlns:a="http://schemas.openxmlformats.org/drawingml/2006/main">
            <a:r>
              <a:t/>
            </a:r>
          </a:p>
          <a:p xmlns:a="http://schemas.openxmlformats.org/drawingml/2006/main">
            <a:r>
              <a:t>Nguồn: reports/TECHNICAL_REPORT.md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khoảng 25 giây. Người lớn tải file video lên, xem kết quả và tự quyết định. Chỉ ra phạm vi hai nhãn, không có tích hợp chặn feed. Ảnh là giao diện upload, không phải kết quả phân tích model.</a:t>
            </a:r>
          </a:p>
          <a:p xmlns:a="http://schemas.openxmlformats.org/drawingml/2006/main">
            <a:r>
              <a:t/>
            </a:r>
          </a:p>
          <a:p xmlns:a="http://schemas.openxmlformats.org/drawingml/2006/main">
            <a:r>
              <a:t>Nguồn: docs/APP_GUIDE.md; docs/screenshots/app-redesign-desktop.jpg (ảnh giao diện từ app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Nhấn mạnh ba nguồn có đơn vị khác nhau. RLVS thiếu ID nguồn gốc, nhóm chỉ kiểm soát trùng bằng hash và heuristic. Pilot có nhóm nguồn rõ nhưng chưa có nhãn và chưa đại diện Shorts.</a:t>
            </a:r>
          </a:p>
          <a:p xmlns:a="http://schemas.openxmlformats.org/drawingml/2006/main">
            <a:r>
              <a:t/>
            </a:r>
          </a:p>
          <a:p xmlns:a="http://schemas.openxmlformats.org/drawingml/2006/main">
            <a:r>
              <a:t>Nguồn: reports/visual_baseline_metrics.json; reports/toxic_baseline_metrics.json; data/pilot/manifest.json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40 giây. Nhóm huấn luyện hai classifier Logistic Regression. ResNet18 và Whisper là pretrained. Hai nhánh dự đoán các nhãn khác nhau, nên phép OR là quy tắc quyết định thay vì learned fusion. Ngưỡng chọn trên validation benchmark.</a:t>
            </a:r>
          </a:p>
          <a:p xmlns:a="http://schemas.openxmlformats.org/drawingml/2006/main">
            <a:r>
              <a:t/>
            </a:r>
          </a:p>
          <a:p xmlns:a="http://schemas.openxmlformats.org/drawingml/2006/main">
            <a:r>
              <a:t>Nguồn: ml/train_visual.py; ml/toxic_baseline.py; ml/inference.py; models/artifacts.json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Nêu F1 0,9598 trên 386 video test, gồm 198 dương tính. Có 7 ca bỏ sót và 9 cảnh báo nhầm. Kết quả tốt trong benchmark này, chưa suy ra khả năng bảo vệ trẻ trên Shorts.</a:t>
            </a:r>
          </a:p>
          <a:p xmlns:a="http://schemas.openxmlformats.org/drawingml/2006/main">
            <a:r>
              <a:t/>
            </a:r>
          </a:p>
          <a:p xmlns:a="http://schemas.openxmlformats.org/drawingml/2006/main">
            <a:r>
              <a:t>Nguồn: reports/visual_baseline_metrics.json; reports/VISUAL_BASELINE.md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35 giây. F1 dương 0,4492, recall 0,4862. Accuracy 0,8684 thấp hơn luôn dự đoán âm 0,8897. Macro-F1 tốt hơn baseline nhưng cần trình bày rõ yếu điểm. Đây là bình luận viết, chưa phải transcript.</a:t>
            </a:r>
          </a:p>
          <a:p xmlns:a="http://schemas.openxmlformats.org/drawingml/2006/main">
            <a:r>
              <a:t/>
            </a:r>
          </a:p>
          <a:p xmlns:a="http://schemas.openxmlformats.org/drawingml/2006/main">
            <a:r>
              <a:t>Nguồn: reports/toxic_baseline_metrics.json; reports/TOXIC_BASELINE.md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25 giây. Có 25 clip giấy phép CC BY 3.0, nhưng chỉ từ 8 video gốc. Huy cần gán 25, app owner gán chéo 6. Chưa có phiếu nộp. Ngôn ngữ ASR và tiêu đề không được dùng làm gold.</a:t>
            </a:r>
          </a:p>
          <a:p xmlns:a="http://schemas.openxmlformats.org/drawingml/2006/main">
            <a:r>
              <a:t/>
            </a:r>
          </a:p>
          <a:p xmlns:a="http://schemas.openxmlformats.org/drawingml/2006/main">
            <a:r>
              <a:t>Nguồn: reports/pilot_data_audit.json; docs/ANNOTATION_GUIDE.md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So hai phiếu độc lập, ghi lý do phân xử rồi đóng gold. Báo coverage và support cùng F1. Cùng cohort đầy đủ nhãn và score để so visual-only, text-only, OR với đích ít nhất một rủi ro P0. Nếu test không có dương tính, không suy ra recall/F1 dương.</a:t>
            </a:r>
          </a:p>
          <a:p xmlns:a="http://schemas.openxmlformats.org/drawingml/2006/main">
            <a:r>
              <a:t/>
            </a:r>
          </a:p>
          <a:p xmlns:a="http://schemas.openxmlformats.org/drawingml/2006/main">
            <a:r>
              <a:t>Nguồn: docs/EVALUATION_GUIDE.md; ml/pilot_evaluation.py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117 test tự động và 13 ca HTTP/model thật. Năm clip train thật chỉ kiểm tra kỹ thuật, không tính độ đúng nội dung. Độ trễ gồm 1 lần đầu và 4 lần sau trên cùng nhóm nguồn, chưa đại diện. Máy Ryzen 5 7535HS, Windows, Python 3.12, CPU.</a:t>
            </a:r>
          </a:p>
          <a:p xmlns:a="http://schemas.openxmlformats.org/drawingml/2006/main">
            <a:r>
              <a:t/>
            </a:r>
          </a:p>
          <a:p xmlns:a="http://schemas.openxmlformats.org/drawingml/2006/main">
            <a:r>
              <a:t>Nguồn: reports/release_smoke_results.json; docs/RELEASE_HANDOFF.md; pytest toàn repo ngày 18/10/2026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30 giây. Một mẫu FLEURS trung tính bị ASR chép sai. Điểm đoạn ASR 0,6333, văn bản chuẩn toàn câu 0,1525. Khác cả transcript lẫn phân đoạn nên đây chỉ là ví dụ, chưa định lượng riêng tác động ASR và chưa có WER đại diện.</a:t>
            </a:r>
          </a:p>
          <a:p xmlns:a="http://schemas.openxmlformats.org/drawingml/2006/main">
            <a:r>
              <a:t/>
            </a:r>
          </a:p>
          <a:p xmlns:a="http://schemas.openxmlformats.org/drawingml/2006/main">
            <a:r>
              <a:t>Nguồn: reports/VIDEO_SMOKE.md; reports/video_smoke_results.json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khoảng 30 giây. Huy trình bày dữ liệu, baseline, pipeline và thực nghiệm. App owner trình bày upload, worker và UI. Còn gán nhãn, chạy đánh giá, máy thứ hai và demo. Kết quả hiện tại là bản tích hợp kỹ thuật, chưa tuyên bố an toàn tuyệt đối.</a:t>
            </a:r>
          </a:p>
          <a:p xmlns:a="http://schemas.openxmlformats.org/drawingml/2006/main">
            <a:r>
              <a:t/>
            </a:r>
          </a:p>
          <a:p xmlns:a="http://schemas.openxmlformats.org/drawingml/2006/main">
            <a:r>
              <a:t>Nguồn: docs/PLAN.md; docs/PROGRESS.md; reports/TECHNICAL_REPORT.md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e879450749412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3a461f593941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de799bc5884b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4c8acd73b946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73ceab2da54f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7170fcef7f64b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0BA718-73C6-4EDB-B987-08CB5C8914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A47952-A004-4308-AEA9-4F05FF3B34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CC6440-4121-41E2-8590-F6148F20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85ED72-CB1C-4D32-9842-206077936E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974BE7-E077-4131-BC43-6FBABA5655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A3FD5C-009A-4296-9BAB-07326FF76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4358B4E-2879-469C-B1BD-9357E33A4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925DF2-00A0-49F1-B96A-65F5CF1383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F99485-2C9B-4C45-897F-D6DC9E186F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B1F9AC-2CBB-49DD-8131-1EFEEDC36F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ab1339b481431f" /><Relationship Type="http://schemas.openxmlformats.org/officeDocument/2006/relationships/slideLayout" Target="/ppt/slideLayouts/slideLayout1.xml" Id="R9bab8bb2ca194de4" /><Relationship Type="http://schemas.openxmlformats.org/officeDocument/2006/relationships/slideLayout" Target="/ppt/slideLayouts/slideLayout2.xml" Id="R678b1ea58c3940eb" /><Relationship Type="http://schemas.openxmlformats.org/officeDocument/2006/relationships/slideLayout" Target="/ppt/slideLayouts/slideLayout3.xml" Id="R66c77e594f784fdd" /><Relationship Type="http://schemas.openxmlformats.org/officeDocument/2006/relationships/slideLayout" Target="/ppt/slideLayouts/slideLayout4.xml" Id="R4e8c874a071e43f1" /><Relationship Type="http://schemas.openxmlformats.org/officeDocument/2006/relationships/slideLayout" Target="/ppt/slideLayouts/slideLayout5.xml" Id="Rd910ff8c096c4571" /><Relationship Type="http://schemas.openxmlformats.org/officeDocument/2006/relationships/slideLayout" Target="/ppt/slideLayouts/slideLayout6.xml" Id="Ra9debdcad6cf4b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ab8bb2ca194de4"/>
    <p:sldLayoutId xmlns:r="http://schemas.openxmlformats.org/officeDocument/2006/relationships" id="2147483650" r:id="R678b1ea58c3940eb"/>
    <p:sldLayoutId xmlns:r="http://schemas.openxmlformats.org/officeDocument/2006/relationships" id="2147483651" r:id="R66c77e594f784fdd"/>
    <p:sldLayoutId xmlns:r="http://schemas.openxmlformats.org/officeDocument/2006/relationships" id="2147483652" r:id="R4e8c874a071e43f1"/>
    <p:sldLayoutId xmlns:r="http://schemas.openxmlformats.org/officeDocument/2006/relationships" id="2147483653" r:id="Rd910ff8c096c4571"/>
    <p:sldLayoutId xmlns:r="http://schemas.openxmlformats.org/officeDocument/2006/relationships" id="2147483654" r:id="Ra9debdcad6cf4b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6277fbdf79438d" /><Relationship Type="http://schemas.openxmlformats.org/officeDocument/2006/relationships/notesSlide" Target="/ppt/notesSlides/notesSlide1.xml" Id="R59150c83948b4b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507e0a22df46b9" /><Relationship Type="http://schemas.openxmlformats.org/officeDocument/2006/relationships/image" Target="/ppt/media/image.jpeg" Id="R83ace3b3295b4af7" /><Relationship Type="http://schemas.openxmlformats.org/officeDocument/2006/relationships/notesSlide" Target="/ppt/notesSlides/notesSlide2.xml" Id="R6915c87def8846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aa99c6a1e348bb" /><Relationship Type="http://schemas.openxmlformats.org/officeDocument/2006/relationships/notesSlide" Target="/ppt/notesSlides/notesSlide3.xml" Id="R45a25b8cd9df4d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6eb17453f9b495d" /><Relationship Type="http://schemas.openxmlformats.org/officeDocument/2006/relationships/notesSlide" Target="/ppt/notesSlides/notesSlide4.xml" Id="Rad34bf80bfe548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280f0c08ae4e71" /><Relationship Type="http://schemas.openxmlformats.org/officeDocument/2006/relationships/chart" Target="/ppt/slides/charts/chart1.xml" Id="R3654502c357a4d4f" /><Relationship Type="http://schemas.openxmlformats.org/officeDocument/2006/relationships/notesSlide" Target="/ppt/notesSlides/notesSlide5.xml" Id="Rb106b3e362cd45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c07062489e4f25" /><Relationship Type="http://schemas.openxmlformats.org/officeDocument/2006/relationships/chart" Target="/ppt/slides/charts/chart2.xml" Id="R6ed6e2e7d7894f2a" /><Relationship Type="http://schemas.openxmlformats.org/officeDocument/2006/relationships/notesSlide" Target="/ppt/notesSlides/notesSlide6.xml" Id="R336c692b3e6449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cb3d2a0c42412f" /><Relationship Type="http://schemas.openxmlformats.org/officeDocument/2006/relationships/notesSlide" Target="/ppt/notesSlides/notesSlide7.xml" Id="Rffb99b0d224a4c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a4f91d74c34a7f" /><Relationship Type="http://schemas.openxmlformats.org/officeDocument/2006/relationships/notesSlide" Target="/ppt/notesSlides/notesSlide8.xml" Id="Ra9284211607f4a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96513b10da42bf" /><Relationship Type="http://schemas.openxmlformats.org/officeDocument/2006/relationships/notesSlide" Target="/ppt/notesSlides/notesSlide9.xml" Id="R0cbbf7c9236c4c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e6cae34e2948e4" /><Relationship Type="http://schemas.openxmlformats.org/officeDocument/2006/relationships/notesSlide" Target="/ppt/notesSlides/notesSlide10.xml" Id="R6adf1a64718145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07a13514db46bb" /><Relationship Type="http://schemas.openxmlformats.org/officeDocument/2006/relationships/notesSlide" Target="/ppt/notesSlides/notesSlide11.xml" Id="R203a46ee51fe49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Lớp dương</c:v>
          </c:tx>
          <c:spPr>
            <a:solidFill xmlns:a="http://schemas.openxmlformats.org/drawingml/2006/main">
              <a:srgbClr val="147D83"/>
            </a:solidFill>
          </c:spPr>
          <c:invertIfNegative val="0"/>
          <c:cat>
            <c:strRef>
              <c:f>'Chart Data'!$A$2:$A$4</c:f>
              <c:strCache>
                <c:ptCount val="3"/>
                <c:pt idx="0">
                  <c:v>Precision</c:v>
                </c:pt>
                <c:pt idx="1">
                  <c:v>Recall</c:v>
                </c:pt>
                <c:pt idx="2">
                  <c:v>F1</c:v>
                </c:pt>
              </c:strCache>
            </c:strRef>
          </c:cat>
          <c:val>
            <c:numRef>
              <c:f>'Chart Data'!$B$2:$B$4</c:f>
              <c:numCache>
                <c:formatCode>0%</c:formatCode>
                <c:ptCount val="3"/>
                <c:pt idx="0">
                  <c:v>0.955</c:v>
                </c:pt>
                <c:pt idx="1">
                  <c:v>0.964646</c:v>
                </c:pt>
                <c:pt idx="2">
                  <c:v>0.959799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9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E2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7078"/>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Lớp dương</c:v>
          </c:tx>
          <c:spPr>
            <a:solidFill xmlns:a="http://schemas.openxmlformats.org/drawingml/2006/main">
              <a:srgbClr val="AD6B25"/>
            </a:solidFill>
          </c:spPr>
          <c:invertIfNegative val="0"/>
          <c:cat>
            <c:strRef>
              <c:f>'Chart Data'!$A$2:$A$4</c:f>
              <c:strCache>
                <c:ptCount val="3"/>
                <c:pt idx="0">
                  <c:v>Precision</c:v>
                </c:pt>
                <c:pt idx="1">
                  <c:v>Recall</c:v>
                </c:pt>
                <c:pt idx="2">
                  <c:v>F1</c:v>
                </c:pt>
              </c:strCache>
            </c:strRef>
          </c:cat>
          <c:val>
            <c:numRef>
              <c:f>'Chart Data'!$B$2:$B$4</c:f>
              <c:numCache>
                <c:formatCode>0%</c:formatCode>
                <c:ptCount val="3"/>
                <c:pt idx="0">
                  <c:v>0.417323</c:v>
                </c:pt>
                <c:pt idx="1">
                  <c:v>0.486239</c:v>
                </c:pt>
                <c:pt idx="2">
                  <c:v>0.449153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9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5E2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7078"/>
                </a:solidFill>
                <a:latin typeface="Arial"/>
                <a:ea typeface="Arial"/>
                <a:cs typeface="Arial"/>
              </a:defRPr>
            </a:pPr>
          </a:p>
        </c:txPr>
        <c:crossAx val="48650112"/>
        <c:crossBetween val="between"/>
        <c:majorUnit val="0.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94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FD1917-D459-4154-B2C4-C40E5BC73CEF}"/>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EAF4F1"/>
                </a:solidFill>
                <a:latin typeface="Arial"/>
                <a:ea typeface="Arial"/>
                <a:cs typeface="Arial"/>
              </a:defRPr>
            </a:defPPr>
            <a:lvl1pPr>
              <a:defRPr sz="4800" b="1">
                <a:solidFill>
                  <a:srgbClr val="EAF4F1"/>
                </a:solidFill>
                <a:latin typeface="Arial"/>
                <a:ea typeface="Arial"/>
                <a:cs typeface="Arial"/>
              </a:defRPr>
            </a:lvl1pPr>
            <a:lvl2pPr>
              <a:defRPr sz="4800" b="1">
                <a:solidFill>
                  <a:srgbClr val="EAF4F1"/>
                </a:solidFill>
                <a:latin typeface="Arial"/>
                <a:ea typeface="Arial"/>
                <a:cs typeface="Arial"/>
              </a:defRPr>
            </a:lvl2pPr>
            <a:lvl3pPr>
              <a:defRPr sz="4800" b="1">
                <a:solidFill>
                  <a:srgbClr val="EAF4F1"/>
                </a:solidFill>
                <a:latin typeface="Arial"/>
                <a:ea typeface="Arial"/>
                <a:cs typeface="Arial"/>
              </a:defRPr>
            </a:lvl3pPr>
            <a:lvl4pPr>
              <a:defRPr sz="4800" b="1">
                <a:solidFill>
                  <a:srgbClr val="EAF4F1"/>
                </a:solidFill>
                <a:latin typeface="Arial"/>
                <a:ea typeface="Arial"/>
                <a:cs typeface="Arial"/>
              </a:defRPr>
            </a:lvl4pPr>
            <a:lvl5pPr>
              <a:defRPr sz="4800" b="1">
                <a:solidFill>
                  <a:srgbClr val="EAF4F1"/>
                </a:solidFill>
                <a:latin typeface="Arial"/>
                <a:ea typeface="Arial"/>
                <a:cs typeface="Arial"/>
              </a:defRPr>
            </a:lvl5pPr>
            <a:lvl6pPr>
              <a:defRPr sz="4800" b="1">
                <a:solidFill>
                  <a:srgbClr val="EAF4F1"/>
                </a:solidFill>
                <a:latin typeface="Arial"/>
                <a:ea typeface="Arial"/>
                <a:cs typeface="Arial"/>
              </a:defRPr>
            </a:lvl6pPr>
            <a:lvl7pPr>
              <a:defRPr sz="4800" b="1">
                <a:solidFill>
                  <a:srgbClr val="EAF4F1"/>
                </a:solidFill>
                <a:latin typeface="Arial"/>
                <a:ea typeface="Arial"/>
                <a:cs typeface="Arial"/>
              </a:defRPr>
            </a:lvl7pPr>
            <a:lvl8pPr>
              <a:defRPr sz="4800" b="1">
                <a:solidFill>
                  <a:srgbClr val="EAF4F1"/>
                </a:solidFill>
                <a:latin typeface="Arial"/>
                <a:ea typeface="Arial"/>
                <a:cs typeface="Arial"/>
              </a:defRPr>
            </a:lvl8pPr>
            <a:lvl9pPr>
              <a:defRPr sz="4800" b="1">
                <a:solidFill>
                  <a:srgbClr val="EAF4F1"/>
                </a:solidFill>
                <a:latin typeface="Arial"/>
                <a:ea typeface="Arial"/>
                <a:cs typeface="Arial"/>
              </a:defRPr>
            </a:lvl9pPr>
          </a:lstStyle>
          <a:p xmlns:a="http://schemas.openxmlformats.org/drawingml/2006/main">
            <a:pPr>
              <a:defRPr sz="4800" b="1">
                <a:solidFill>
                  <a:srgbClr val="EAF4F1"/>
                </a:solidFill>
                <a:latin typeface="Arial"/>
                <a:ea typeface="Arial"/>
                <a:cs typeface="Arial"/>
              </a:defRPr>
            </a:pPr>
            <a:r>
              <a:rPr sz="4800" b="1">
                <a:solidFill>
                  <a:srgbClr val="EAF4F1"/>
                </a:solidFill>
                <a:latin typeface="Arial"/>
                <a:ea typeface="Arial"/>
                <a:cs typeface="Arial"/>
              </a:rPr>
              <a:t>KidSafeReels</a:t>
            </a:r>
          </a:p>
        </p:txBody>
      </p:sp>
      <p:sp>
        <p:nvSpPr>
          <p:cNvPr id="2" name="">
            <a:extLst xmlns:a="http://schemas.openxmlformats.org/drawingml/2006/main">
              <a:ext uri="{FF2B5EF4-FFF2-40B4-BE49-F238E27FC236}">
                <a16:creationId xmlns:a16="http://schemas.microsoft.com/office/drawing/2014/main" id="{FB65E786-CEB6-4794-B3ED-D3568CDD5684}"/>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EAF4F1"/>
                </a:solidFill>
                <a:latin typeface="Arial"/>
                <a:ea typeface="Arial"/>
                <a:cs typeface="Arial"/>
              </a:defRPr>
            </a:defPPr>
            <a:lvl1pPr>
              <a:defRPr sz="1350" b="0">
                <a:solidFill>
                  <a:srgbClr val="EAF4F1"/>
                </a:solidFill>
                <a:latin typeface="Arial"/>
                <a:ea typeface="Arial"/>
                <a:cs typeface="Arial"/>
              </a:defRPr>
            </a:lvl1pPr>
            <a:lvl2pPr>
              <a:defRPr sz="1350" b="0">
                <a:solidFill>
                  <a:srgbClr val="EAF4F1"/>
                </a:solidFill>
                <a:latin typeface="Arial"/>
                <a:ea typeface="Arial"/>
                <a:cs typeface="Arial"/>
              </a:defRPr>
            </a:lvl2pPr>
            <a:lvl3pPr>
              <a:defRPr sz="1350" b="0">
                <a:solidFill>
                  <a:srgbClr val="EAF4F1"/>
                </a:solidFill>
                <a:latin typeface="Arial"/>
                <a:ea typeface="Arial"/>
                <a:cs typeface="Arial"/>
              </a:defRPr>
            </a:lvl3pPr>
            <a:lvl4pPr>
              <a:defRPr sz="1350" b="0">
                <a:solidFill>
                  <a:srgbClr val="EAF4F1"/>
                </a:solidFill>
                <a:latin typeface="Arial"/>
                <a:ea typeface="Arial"/>
                <a:cs typeface="Arial"/>
              </a:defRPr>
            </a:lvl4pPr>
            <a:lvl5pPr>
              <a:defRPr sz="1350" b="0">
                <a:solidFill>
                  <a:srgbClr val="EAF4F1"/>
                </a:solidFill>
                <a:latin typeface="Arial"/>
                <a:ea typeface="Arial"/>
                <a:cs typeface="Arial"/>
              </a:defRPr>
            </a:lvl5pPr>
            <a:lvl6pPr>
              <a:defRPr sz="1350" b="0">
                <a:solidFill>
                  <a:srgbClr val="EAF4F1"/>
                </a:solidFill>
                <a:latin typeface="Arial"/>
                <a:ea typeface="Arial"/>
                <a:cs typeface="Arial"/>
              </a:defRPr>
            </a:lvl6pPr>
            <a:lvl7pPr>
              <a:defRPr sz="1350" b="0">
                <a:solidFill>
                  <a:srgbClr val="EAF4F1"/>
                </a:solidFill>
                <a:latin typeface="Arial"/>
                <a:ea typeface="Arial"/>
                <a:cs typeface="Arial"/>
              </a:defRPr>
            </a:lvl7pPr>
            <a:lvl8pPr>
              <a:defRPr sz="1350" b="0">
                <a:solidFill>
                  <a:srgbClr val="EAF4F1"/>
                </a:solidFill>
                <a:latin typeface="Arial"/>
                <a:ea typeface="Arial"/>
                <a:cs typeface="Arial"/>
              </a:defRPr>
            </a:lvl8pPr>
            <a:lvl9pPr>
              <a:defRPr sz="1350" b="0">
                <a:solidFill>
                  <a:srgbClr val="EAF4F1"/>
                </a:solidFill>
                <a:latin typeface="Arial"/>
                <a:ea typeface="Arial"/>
                <a:cs typeface="Arial"/>
              </a:defRPr>
            </a:lvl9pPr>
          </a:lstStyle>
          <a:p xmlns:a="http://schemas.openxmlformats.org/drawingml/2006/main">
            <a:pPr>
              <a:defRPr sz="1350" b="0">
                <a:solidFill>
                  <a:srgbClr val="EAF4F1"/>
                </a:solidFill>
                <a:latin typeface="Arial"/>
                <a:ea typeface="Arial"/>
                <a:cs typeface="Arial"/>
              </a:defRPr>
            </a:pPr>
            <a:r>
              <a:rPr sz="1350" b="0">
                <a:solidFill>
                  <a:srgbClr val="EAF4F1"/>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792A24A2-4362-4377-B284-C1FC750BE6D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EAF4F1"/>
                </a:solidFill>
                <a:latin typeface="Arial"/>
                <a:ea typeface="Arial"/>
                <a:cs typeface="Arial"/>
              </a:defRPr>
            </a:defPPr>
            <a:lvl1pPr>
              <a:defRPr sz="1350" b="0">
                <a:solidFill>
                  <a:srgbClr val="EAF4F1"/>
                </a:solidFill>
                <a:latin typeface="Arial"/>
                <a:ea typeface="Arial"/>
                <a:cs typeface="Arial"/>
              </a:defRPr>
            </a:lvl1pPr>
            <a:lvl2pPr>
              <a:defRPr sz="1350" b="0">
                <a:solidFill>
                  <a:srgbClr val="EAF4F1"/>
                </a:solidFill>
                <a:latin typeface="Arial"/>
                <a:ea typeface="Arial"/>
                <a:cs typeface="Arial"/>
              </a:defRPr>
            </a:lvl2pPr>
            <a:lvl3pPr>
              <a:defRPr sz="1350" b="0">
                <a:solidFill>
                  <a:srgbClr val="EAF4F1"/>
                </a:solidFill>
                <a:latin typeface="Arial"/>
                <a:ea typeface="Arial"/>
                <a:cs typeface="Arial"/>
              </a:defRPr>
            </a:lvl3pPr>
            <a:lvl4pPr>
              <a:defRPr sz="1350" b="0">
                <a:solidFill>
                  <a:srgbClr val="EAF4F1"/>
                </a:solidFill>
                <a:latin typeface="Arial"/>
                <a:ea typeface="Arial"/>
                <a:cs typeface="Arial"/>
              </a:defRPr>
            </a:lvl4pPr>
            <a:lvl5pPr>
              <a:defRPr sz="1350" b="0">
                <a:solidFill>
                  <a:srgbClr val="EAF4F1"/>
                </a:solidFill>
                <a:latin typeface="Arial"/>
                <a:ea typeface="Arial"/>
                <a:cs typeface="Arial"/>
              </a:defRPr>
            </a:lvl5pPr>
            <a:lvl6pPr>
              <a:defRPr sz="1350" b="0">
                <a:solidFill>
                  <a:srgbClr val="EAF4F1"/>
                </a:solidFill>
                <a:latin typeface="Arial"/>
                <a:ea typeface="Arial"/>
                <a:cs typeface="Arial"/>
              </a:defRPr>
            </a:lvl6pPr>
            <a:lvl7pPr>
              <a:defRPr sz="1350" b="0">
                <a:solidFill>
                  <a:srgbClr val="EAF4F1"/>
                </a:solidFill>
                <a:latin typeface="Arial"/>
                <a:ea typeface="Arial"/>
                <a:cs typeface="Arial"/>
              </a:defRPr>
            </a:lvl7pPr>
            <a:lvl8pPr>
              <a:defRPr sz="1350" b="0">
                <a:solidFill>
                  <a:srgbClr val="EAF4F1"/>
                </a:solidFill>
                <a:latin typeface="Arial"/>
                <a:ea typeface="Arial"/>
                <a:cs typeface="Arial"/>
              </a:defRPr>
            </a:lvl8pPr>
            <a:lvl9pPr>
              <a:defRPr sz="1350" b="0">
                <a:solidFill>
                  <a:srgbClr val="EAF4F1"/>
                </a:solidFill>
                <a:latin typeface="Arial"/>
                <a:ea typeface="Arial"/>
                <a:cs typeface="Arial"/>
              </a:defRPr>
            </a:lvl9pPr>
          </a:lstStyle>
          <a:p xmlns:a="http://schemas.openxmlformats.org/drawingml/2006/main">
            <a:pPr>
              <a:defRPr sz="1350" b="0">
                <a:solidFill>
                  <a:srgbClr val="EAF4F1"/>
                </a:solidFill>
                <a:latin typeface="Arial"/>
                <a:ea typeface="Arial"/>
                <a:cs typeface="Arial"/>
              </a:defRPr>
            </a:pPr>
            <a:r>
              <a:rPr sz="1350" b="0">
                <a:solidFill>
                  <a:srgbClr val="EAF4F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697F670-D2D8-421B-B694-4DFC2BD581C6}"/>
              </a:ext>
            </a:extLst>
          </p:cNvPr>
          <p:cNvSpPr>
            <a:spLocks xmlns:a="http://schemas.openxmlformats.org/drawingml/2006/main" noGrp="1"/>
          </p:cNvSpPr>
          <p:nvPr/>
        </p:nvSpPr>
        <p:spPr>
          <a:xfrm xmlns:a="http://schemas.openxmlformats.org/drawingml/2006/main">
            <a:off x="609600" y="22860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FFFFFF"/>
                </a:solidFill>
                <a:latin typeface="Arial"/>
                <a:ea typeface="Arial"/>
                <a:cs typeface="Arial"/>
              </a:defRPr>
            </a:defPPr>
            <a:lvl1pPr>
              <a:defRPr sz="4200" b="1">
                <a:solidFill>
                  <a:srgbClr val="FFFFFF"/>
                </a:solidFill>
                <a:latin typeface="Arial"/>
                <a:ea typeface="Arial"/>
                <a:cs typeface="Arial"/>
              </a:defRPr>
            </a:lvl1pPr>
            <a:lvl2pPr>
              <a:defRPr sz="4200" b="1">
                <a:solidFill>
                  <a:srgbClr val="FFFFFF"/>
                </a:solidFill>
                <a:latin typeface="Arial"/>
                <a:ea typeface="Arial"/>
                <a:cs typeface="Arial"/>
              </a:defRPr>
            </a:lvl2pPr>
            <a:lvl3pPr>
              <a:defRPr sz="4200" b="1">
                <a:solidFill>
                  <a:srgbClr val="FFFFFF"/>
                </a:solidFill>
                <a:latin typeface="Arial"/>
                <a:ea typeface="Arial"/>
                <a:cs typeface="Arial"/>
              </a:defRPr>
            </a:lvl3pPr>
            <a:lvl4pPr>
              <a:defRPr sz="4200" b="1">
                <a:solidFill>
                  <a:srgbClr val="FFFFFF"/>
                </a:solidFill>
                <a:latin typeface="Arial"/>
                <a:ea typeface="Arial"/>
                <a:cs typeface="Arial"/>
              </a:defRPr>
            </a:lvl4pPr>
            <a:lvl5pPr>
              <a:defRPr sz="4200" b="1">
                <a:solidFill>
                  <a:srgbClr val="FFFFFF"/>
                </a:solidFill>
                <a:latin typeface="Arial"/>
                <a:ea typeface="Arial"/>
                <a:cs typeface="Arial"/>
              </a:defRPr>
            </a:lvl5pPr>
            <a:lvl6pPr>
              <a:defRPr sz="4200" b="1">
                <a:solidFill>
                  <a:srgbClr val="FFFFFF"/>
                </a:solidFill>
                <a:latin typeface="Arial"/>
                <a:ea typeface="Arial"/>
                <a:cs typeface="Arial"/>
              </a:defRPr>
            </a:lvl6pPr>
            <a:lvl7pPr>
              <a:defRPr sz="4200" b="1">
                <a:solidFill>
                  <a:srgbClr val="FFFFFF"/>
                </a:solidFill>
                <a:latin typeface="Arial"/>
                <a:ea typeface="Arial"/>
                <a:cs typeface="Arial"/>
              </a:defRPr>
            </a:lvl7pPr>
            <a:lvl8pPr>
              <a:defRPr sz="4200" b="1">
                <a:solidFill>
                  <a:srgbClr val="FFFFFF"/>
                </a:solidFill>
                <a:latin typeface="Arial"/>
                <a:ea typeface="Arial"/>
                <a:cs typeface="Arial"/>
              </a:defRPr>
            </a:lvl8pPr>
            <a:lvl9pPr>
              <a:defRPr sz="4200" b="1">
                <a:solidFill>
                  <a:srgbClr val="FFFFFF"/>
                </a:solidFill>
                <a:latin typeface="Arial"/>
                <a:ea typeface="Arial"/>
                <a:cs typeface="Arial"/>
              </a:defRPr>
            </a:lvl9pPr>
          </a:lstStyle>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Kiểm duyệt đa phương thức</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nội dung video ngắn</a:t>
            </a:r>
          </a:p>
        </p:txBody>
      </p:sp>
      <p:sp>
        <p:nvSpPr>
          <p:cNvPr id="5" name="">
            <a:extLst xmlns:a="http://schemas.openxmlformats.org/drawingml/2006/main">
              <a:ext uri="{FF2B5EF4-FFF2-40B4-BE49-F238E27FC236}">
                <a16:creationId xmlns:a16="http://schemas.microsoft.com/office/drawing/2014/main" id="{CE3F4FC0-C7E4-4DB9-AFED-1C7D47C30CCF}"/>
              </a:ext>
            </a:extLst>
          </p:cNvPr>
          <p:cNvSpPr>
            <a:spLocks xmlns:a="http://schemas.openxmlformats.org/drawingml/2006/main" noGrp="1"/>
          </p:cNvSpPr>
          <p:nvPr/>
        </p:nvSpPr>
        <p:spPr>
          <a:xfrm xmlns:a="http://schemas.openxmlformats.org/drawingml/2006/main">
            <a:off x="609600" y="4524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AF4F1"/>
                </a:solidFill>
                <a:latin typeface="Arial"/>
                <a:ea typeface="Arial"/>
                <a:cs typeface="Arial"/>
              </a:defRPr>
            </a:defPPr>
            <a:lvl1pPr>
              <a:defRPr sz="2100" b="0">
                <a:solidFill>
                  <a:srgbClr val="EAF4F1"/>
                </a:solidFill>
                <a:latin typeface="Arial"/>
                <a:ea typeface="Arial"/>
                <a:cs typeface="Arial"/>
              </a:defRPr>
            </a:lvl1pPr>
            <a:lvl2pPr>
              <a:defRPr sz="2100" b="0">
                <a:solidFill>
                  <a:srgbClr val="EAF4F1"/>
                </a:solidFill>
                <a:latin typeface="Arial"/>
                <a:ea typeface="Arial"/>
                <a:cs typeface="Arial"/>
              </a:defRPr>
            </a:lvl2pPr>
            <a:lvl3pPr>
              <a:defRPr sz="2100" b="0">
                <a:solidFill>
                  <a:srgbClr val="EAF4F1"/>
                </a:solidFill>
                <a:latin typeface="Arial"/>
                <a:ea typeface="Arial"/>
                <a:cs typeface="Arial"/>
              </a:defRPr>
            </a:lvl3pPr>
            <a:lvl4pPr>
              <a:defRPr sz="2100" b="0">
                <a:solidFill>
                  <a:srgbClr val="EAF4F1"/>
                </a:solidFill>
                <a:latin typeface="Arial"/>
                <a:ea typeface="Arial"/>
                <a:cs typeface="Arial"/>
              </a:defRPr>
            </a:lvl4pPr>
            <a:lvl5pPr>
              <a:defRPr sz="2100" b="0">
                <a:solidFill>
                  <a:srgbClr val="EAF4F1"/>
                </a:solidFill>
                <a:latin typeface="Arial"/>
                <a:ea typeface="Arial"/>
                <a:cs typeface="Arial"/>
              </a:defRPr>
            </a:lvl5pPr>
            <a:lvl6pPr>
              <a:defRPr sz="2100" b="0">
                <a:solidFill>
                  <a:srgbClr val="EAF4F1"/>
                </a:solidFill>
                <a:latin typeface="Arial"/>
                <a:ea typeface="Arial"/>
                <a:cs typeface="Arial"/>
              </a:defRPr>
            </a:lvl6pPr>
            <a:lvl7pPr>
              <a:defRPr sz="2100" b="0">
                <a:solidFill>
                  <a:srgbClr val="EAF4F1"/>
                </a:solidFill>
                <a:latin typeface="Arial"/>
                <a:ea typeface="Arial"/>
                <a:cs typeface="Arial"/>
              </a:defRPr>
            </a:lvl7pPr>
            <a:lvl8pPr>
              <a:defRPr sz="2100" b="0">
                <a:solidFill>
                  <a:srgbClr val="EAF4F1"/>
                </a:solidFill>
                <a:latin typeface="Arial"/>
                <a:ea typeface="Arial"/>
                <a:cs typeface="Arial"/>
              </a:defRPr>
            </a:lvl8pPr>
            <a:lvl9pPr>
              <a:defRPr sz="2100" b="0">
                <a:solidFill>
                  <a:srgbClr val="EAF4F1"/>
                </a:solidFill>
                <a:latin typeface="Arial"/>
                <a:ea typeface="Arial"/>
                <a:cs typeface="Arial"/>
              </a:defRPr>
            </a:lvl9pPr>
          </a:lstStyle>
          <a:p xmlns:a="http://schemas.openxmlformats.org/drawingml/2006/main">
            <a:pPr>
              <a:defRPr sz="2100" b="0">
                <a:solidFill>
                  <a:srgbClr val="EAF4F1"/>
                </a:solidFill>
                <a:latin typeface="Arial"/>
                <a:ea typeface="Arial"/>
                <a:cs typeface="Arial"/>
              </a:defRPr>
            </a:pPr>
            <a:r>
              <a:rPr sz="2100" b="0">
                <a:solidFill>
                  <a:srgbClr val="EAF4F1"/>
                </a:solidFill>
                <a:latin typeface="Arial"/>
                <a:ea typeface="Arial"/>
                <a:cs typeface="Arial"/>
              </a:rPr>
              <a:t>Bản tích hợp CPU • 18/10/2026</a:t>
            </a:r>
          </a:p>
        </p:txBody>
      </p:sp>
      <p:sp>
        <p:nvSpPr>
          <p:cNvPr id="6" name="">
            <a:extLst xmlns:a="http://schemas.openxmlformats.org/drawingml/2006/main">
              <a:ext uri="{FF2B5EF4-FFF2-40B4-BE49-F238E27FC236}">
                <a16:creationId xmlns:a16="http://schemas.microsoft.com/office/drawing/2014/main" id="{4945021F-A9AC-4AB5-A6E7-44DC66EC665F}"/>
              </a:ext>
            </a:extLst>
          </p:cNvPr>
          <p:cNvSpPr>
            <a:spLocks xmlns:a="http://schemas.openxmlformats.org/drawingml/2006/main" noGrp="1"/>
          </p:cNvSpPr>
          <p:nvPr/>
        </p:nvSpPr>
        <p:spPr>
          <a:xfrm xmlns:a="http://schemas.openxmlformats.org/drawingml/2006/main">
            <a:off x="609600" y="52863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AF4F1"/>
                </a:solidFill>
                <a:latin typeface="Arial"/>
                <a:ea typeface="Arial"/>
                <a:cs typeface="Arial"/>
              </a:defRPr>
            </a:defPPr>
            <a:lvl1pPr>
              <a:defRPr sz="2025" b="0">
                <a:solidFill>
                  <a:srgbClr val="EAF4F1"/>
                </a:solidFill>
                <a:latin typeface="Arial"/>
                <a:ea typeface="Arial"/>
                <a:cs typeface="Arial"/>
              </a:defRPr>
            </a:lvl1pPr>
            <a:lvl2pPr>
              <a:defRPr sz="2025" b="0">
                <a:solidFill>
                  <a:srgbClr val="EAF4F1"/>
                </a:solidFill>
                <a:latin typeface="Arial"/>
                <a:ea typeface="Arial"/>
                <a:cs typeface="Arial"/>
              </a:defRPr>
            </a:lvl2pPr>
            <a:lvl3pPr>
              <a:defRPr sz="2025" b="0">
                <a:solidFill>
                  <a:srgbClr val="EAF4F1"/>
                </a:solidFill>
                <a:latin typeface="Arial"/>
                <a:ea typeface="Arial"/>
                <a:cs typeface="Arial"/>
              </a:defRPr>
            </a:lvl3pPr>
            <a:lvl4pPr>
              <a:defRPr sz="2025" b="0">
                <a:solidFill>
                  <a:srgbClr val="EAF4F1"/>
                </a:solidFill>
                <a:latin typeface="Arial"/>
                <a:ea typeface="Arial"/>
                <a:cs typeface="Arial"/>
              </a:defRPr>
            </a:lvl4pPr>
            <a:lvl5pPr>
              <a:defRPr sz="2025" b="0">
                <a:solidFill>
                  <a:srgbClr val="EAF4F1"/>
                </a:solidFill>
                <a:latin typeface="Arial"/>
                <a:ea typeface="Arial"/>
                <a:cs typeface="Arial"/>
              </a:defRPr>
            </a:lvl5pPr>
            <a:lvl6pPr>
              <a:defRPr sz="2025" b="0">
                <a:solidFill>
                  <a:srgbClr val="EAF4F1"/>
                </a:solidFill>
                <a:latin typeface="Arial"/>
                <a:ea typeface="Arial"/>
                <a:cs typeface="Arial"/>
              </a:defRPr>
            </a:lvl6pPr>
            <a:lvl7pPr>
              <a:defRPr sz="2025" b="0">
                <a:solidFill>
                  <a:srgbClr val="EAF4F1"/>
                </a:solidFill>
                <a:latin typeface="Arial"/>
                <a:ea typeface="Arial"/>
                <a:cs typeface="Arial"/>
              </a:defRPr>
            </a:lvl7pPr>
            <a:lvl8pPr>
              <a:defRPr sz="2025" b="0">
                <a:solidFill>
                  <a:srgbClr val="EAF4F1"/>
                </a:solidFill>
                <a:latin typeface="Arial"/>
                <a:ea typeface="Arial"/>
                <a:cs typeface="Arial"/>
              </a:defRPr>
            </a:lvl8pPr>
            <a:lvl9pPr>
              <a:defRPr sz="2025" b="0">
                <a:solidFill>
                  <a:srgbClr val="EAF4F1"/>
                </a:solidFill>
                <a:latin typeface="Arial"/>
                <a:ea typeface="Arial"/>
                <a:cs typeface="Arial"/>
              </a:defRPr>
            </a:lvl9pPr>
          </a:lstStyle>
          <a:p xmlns:a="http://schemas.openxmlformats.org/drawingml/2006/main">
            <a:pPr>
              <a:defRPr sz="2025" b="0">
                <a:solidFill>
                  <a:srgbClr val="EAF4F1"/>
                </a:solidFill>
                <a:latin typeface="Arial"/>
                <a:ea typeface="Arial"/>
                <a:cs typeface="Arial"/>
              </a:defRPr>
            </a:pPr>
            <a:r>
              <a:rPr sz="2025" b="0">
                <a:solidFill>
                  <a:srgbClr val="EAF4F1"/>
                </a:solidFill>
                <a:latin typeface="Arial"/>
                <a:ea typeface="Arial"/>
                <a:cs typeface="Arial"/>
              </a:rPr>
              <a:t>Violence và Toxic tiếng Việt</a:t>
            </a:r>
          </a:p>
          <a:p xmlns:a="http://schemas.openxmlformats.org/drawingml/2006/main">
            <a:pPr>
              <a:defRPr sz="2025" b="0">
                <a:solidFill>
                  <a:srgbClr val="EAF4F1"/>
                </a:solidFill>
                <a:latin typeface="Arial"/>
                <a:ea typeface="Arial"/>
                <a:cs typeface="Arial"/>
              </a:defRPr>
            </a:pPr>
            <a:r>
              <a:rPr sz="2025" b="0">
                <a:solidFill>
                  <a:srgbClr val="EAF4F1"/>
                </a:solidFill>
                <a:latin typeface="Arial"/>
                <a:ea typeface="Arial"/>
                <a:cs typeface="Arial"/>
              </a:rPr>
              <a:t>Pilot đang chờ nhãn người thật</a:t>
            </a:r>
          </a:p>
        </p:txBody>
      </p:sp>
    </p:spTree>
    <p:extLst>
      <p:ext uri="{BB962C8B-B14F-4D97-AF65-F5344CB8AC3E}">
        <p14:creationId xmlns:p14="http://schemas.microsoft.com/office/powerpoint/2010/main" val="1899195103"/>
      </p:ext>
    </p:extLst>
  </p:cSld>
</p:sld>
</file>

<file path=ppt/slides/slide2.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E4E089-3FA2-448F-8CC5-1AE00CBF74D6}"/>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Công cụ sàng lọc cho phụ huynh và giáo viên</a:t>
            </a:r>
          </a:p>
        </p:txBody>
      </p:sp>
      <p:sp>
        <p:nvSpPr>
          <p:cNvPr id="2" name="">
            <a:extLst xmlns:a="http://schemas.openxmlformats.org/drawingml/2006/main">
              <a:ext uri="{FF2B5EF4-FFF2-40B4-BE49-F238E27FC236}">
                <a16:creationId xmlns:a16="http://schemas.microsoft.com/office/drawing/2014/main" id="{1F7DF7EE-ABE0-4AB5-99B1-167E4DEF9511}"/>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0AECC89-1200-4B0F-9D6A-1A0D04F817F3}"/>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104C5E2-5A7A-4A11-A84A-3C93E833A009}"/>
              </a:ext>
            </a:extLst>
          </p:cNvPr>
          <p:cNvSpPr>
            <a:spLocks xmlns:a="http://schemas.openxmlformats.org/drawingml/2006/main" noGrp="1"/>
          </p:cNvSpPr>
          <p:nvPr/>
        </p:nvSpPr>
        <p:spPr>
          <a:xfrm xmlns:a="http://schemas.openxmlformats.org/drawingml/2006/main">
            <a:off x="609600" y="1952625"/>
            <a:ext cx="400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942"/>
                </a:solidFill>
                <a:latin typeface="Arial"/>
                <a:ea typeface="Arial"/>
                <a:cs typeface="Arial"/>
              </a:defRPr>
            </a:defPPr>
            <a:lvl1pPr>
              <a:defRPr sz="2250" b="1">
                <a:solidFill>
                  <a:srgbClr val="183942"/>
                </a:solidFill>
                <a:latin typeface="Arial"/>
                <a:ea typeface="Arial"/>
                <a:cs typeface="Arial"/>
              </a:defRPr>
            </a:lvl1pPr>
            <a:lvl2pPr>
              <a:defRPr sz="2250" b="1">
                <a:solidFill>
                  <a:srgbClr val="183942"/>
                </a:solidFill>
                <a:latin typeface="Arial"/>
                <a:ea typeface="Arial"/>
                <a:cs typeface="Arial"/>
              </a:defRPr>
            </a:lvl2pPr>
            <a:lvl3pPr>
              <a:defRPr sz="2250" b="1">
                <a:solidFill>
                  <a:srgbClr val="183942"/>
                </a:solidFill>
                <a:latin typeface="Arial"/>
                <a:ea typeface="Arial"/>
                <a:cs typeface="Arial"/>
              </a:defRPr>
            </a:lvl3pPr>
            <a:lvl4pPr>
              <a:defRPr sz="2250" b="1">
                <a:solidFill>
                  <a:srgbClr val="183942"/>
                </a:solidFill>
                <a:latin typeface="Arial"/>
                <a:ea typeface="Arial"/>
                <a:cs typeface="Arial"/>
              </a:defRPr>
            </a:lvl4pPr>
            <a:lvl5pPr>
              <a:defRPr sz="2250" b="1">
                <a:solidFill>
                  <a:srgbClr val="183942"/>
                </a:solidFill>
                <a:latin typeface="Arial"/>
                <a:ea typeface="Arial"/>
                <a:cs typeface="Arial"/>
              </a:defRPr>
            </a:lvl5pPr>
            <a:lvl6pPr>
              <a:defRPr sz="2250" b="1">
                <a:solidFill>
                  <a:srgbClr val="183942"/>
                </a:solidFill>
                <a:latin typeface="Arial"/>
                <a:ea typeface="Arial"/>
                <a:cs typeface="Arial"/>
              </a:defRPr>
            </a:lvl6pPr>
            <a:lvl7pPr>
              <a:defRPr sz="2250" b="1">
                <a:solidFill>
                  <a:srgbClr val="183942"/>
                </a:solidFill>
                <a:latin typeface="Arial"/>
                <a:ea typeface="Arial"/>
                <a:cs typeface="Arial"/>
              </a:defRPr>
            </a:lvl7pPr>
            <a:lvl8pPr>
              <a:defRPr sz="2250" b="1">
                <a:solidFill>
                  <a:srgbClr val="183942"/>
                </a:solidFill>
                <a:latin typeface="Arial"/>
                <a:ea typeface="Arial"/>
                <a:cs typeface="Arial"/>
              </a:defRPr>
            </a:lvl8pPr>
            <a:lvl9pPr>
              <a:defRPr sz="2250" b="1">
                <a:solidFill>
                  <a:srgbClr val="183942"/>
                </a:solidFill>
                <a:latin typeface="Arial"/>
                <a:ea typeface="Arial"/>
                <a:cs typeface="Arial"/>
              </a:defRPr>
            </a:lvl9pPr>
          </a:lstStyle>
          <a:p xmlns:a="http://schemas.openxmlformats.org/drawingml/2006/main">
            <a:pPr>
              <a:defRPr sz="2250" b="1">
                <a:solidFill>
                  <a:srgbClr val="183942"/>
                </a:solidFill>
                <a:latin typeface="Arial"/>
                <a:ea typeface="Arial"/>
                <a:cs typeface="Arial"/>
              </a:defRPr>
            </a:pPr>
            <a:r>
              <a:rPr sz="2250" b="1">
                <a:solidFill>
                  <a:srgbClr val="183942"/>
                </a:solidFill>
                <a:latin typeface="Arial"/>
                <a:ea typeface="Arial"/>
                <a:cs typeface="Arial"/>
              </a:rPr>
              <a:t>Tải video ≤60 giây</a:t>
            </a:r>
          </a:p>
          <a:p xmlns:a="http://schemas.openxmlformats.org/drawingml/2006/main">
            <a:pPr>
              <a:defRPr sz="2250" b="1">
                <a:solidFill>
                  <a:srgbClr val="183942"/>
                </a:solidFill>
                <a:latin typeface="Arial"/>
                <a:ea typeface="Arial"/>
                <a:cs typeface="Arial"/>
              </a:defRPr>
            </a:pPr>
            <a:r>
              <a:rPr sz="2250" b="1">
                <a:solidFill>
                  <a:srgbClr val="183942"/>
                </a:solidFill>
                <a:latin typeface="Arial"/>
                <a:ea typeface="Arial"/>
                <a:cs typeface="Arial"/>
              </a:rPr>
              <a:t>MP4, MOV hoặc WebM</a:t>
            </a:r>
          </a:p>
          <a:p xmlns:a="http://schemas.openxmlformats.org/drawingml/2006/main">
            <a:pPr>
              <a:defRPr sz="2250" b="1">
                <a:solidFill>
                  <a:srgbClr val="183942"/>
                </a:solidFill>
                <a:latin typeface="Arial"/>
                <a:ea typeface="Arial"/>
                <a:cs typeface="Arial"/>
              </a:defRPr>
            </a:pPr>
            <a:r>
              <a:rPr sz="2250" b="1">
                <a:solidFill>
                  <a:srgbClr val="183942"/>
                </a:solidFill>
                <a:latin typeface="Arial"/>
                <a:ea typeface="Arial"/>
                <a:cs typeface="Arial"/>
              </a:rPr>
              <a:t>Tối đa 50 MiB</a:t>
            </a:r>
          </a:p>
        </p:txBody>
      </p:sp>
      <p:sp>
        <p:nvSpPr>
          <p:cNvPr id="5" name="">
            <a:extLst xmlns:a="http://schemas.openxmlformats.org/drawingml/2006/main">
              <a:ext uri="{FF2B5EF4-FFF2-40B4-BE49-F238E27FC236}">
                <a16:creationId xmlns:a16="http://schemas.microsoft.com/office/drawing/2014/main" id="{577502E6-BEBE-4B07-9547-261439A8A0E4}"/>
              </a:ext>
            </a:extLst>
          </p:cNvPr>
          <p:cNvSpPr>
            <a:spLocks xmlns:a="http://schemas.openxmlformats.org/drawingml/2006/main" noGrp="1"/>
          </p:cNvSpPr>
          <p:nvPr/>
        </p:nvSpPr>
        <p:spPr>
          <a:xfrm xmlns:a="http://schemas.openxmlformats.org/drawingml/2006/main">
            <a:off x="609600" y="3886200"/>
            <a:ext cx="4191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942"/>
                </a:solidFill>
                <a:latin typeface="Arial"/>
                <a:ea typeface="Arial"/>
                <a:cs typeface="Arial"/>
              </a:defRPr>
            </a:defPPr>
            <a:lvl1pPr>
              <a:defRPr sz="2025" b="0">
                <a:solidFill>
                  <a:srgbClr val="183942"/>
                </a:solidFill>
                <a:latin typeface="Arial"/>
                <a:ea typeface="Arial"/>
                <a:cs typeface="Arial"/>
              </a:defRPr>
            </a:lvl1pPr>
            <a:lvl2pPr>
              <a:defRPr sz="2025" b="0">
                <a:solidFill>
                  <a:srgbClr val="183942"/>
                </a:solidFill>
                <a:latin typeface="Arial"/>
                <a:ea typeface="Arial"/>
                <a:cs typeface="Arial"/>
              </a:defRPr>
            </a:lvl2pPr>
            <a:lvl3pPr>
              <a:defRPr sz="2025" b="0">
                <a:solidFill>
                  <a:srgbClr val="183942"/>
                </a:solidFill>
                <a:latin typeface="Arial"/>
                <a:ea typeface="Arial"/>
                <a:cs typeface="Arial"/>
              </a:defRPr>
            </a:lvl3pPr>
            <a:lvl4pPr>
              <a:defRPr sz="2025" b="0">
                <a:solidFill>
                  <a:srgbClr val="183942"/>
                </a:solidFill>
                <a:latin typeface="Arial"/>
                <a:ea typeface="Arial"/>
                <a:cs typeface="Arial"/>
              </a:defRPr>
            </a:lvl4pPr>
            <a:lvl5pPr>
              <a:defRPr sz="2025" b="0">
                <a:solidFill>
                  <a:srgbClr val="183942"/>
                </a:solidFill>
                <a:latin typeface="Arial"/>
                <a:ea typeface="Arial"/>
                <a:cs typeface="Arial"/>
              </a:defRPr>
            </a:lvl5pPr>
            <a:lvl6pPr>
              <a:defRPr sz="2025" b="0">
                <a:solidFill>
                  <a:srgbClr val="183942"/>
                </a:solidFill>
                <a:latin typeface="Arial"/>
                <a:ea typeface="Arial"/>
                <a:cs typeface="Arial"/>
              </a:defRPr>
            </a:lvl6pPr>
            <a:lvl7pPr>
              <a:defRPr sz="2025" b="0">
                <a:solidFill>
                  <a:srgbClr val="183942"/>
                </a:solidFill>
                <a:latin typeface="Arial"/>
                <a:ea typeface="Arial"/>
                <a:cs typeface="Arial"/>
              </a:defRPr>
            </a:lvl7pPr>
            <a:lvl8pPr>
              <a:defRPr sz="2025" b="0">
                <a:solidFill>
                  <a:srgbClr val="183942"/>
                </a:solidFill>
                <a:latin typeface="Arial"/>
                <a:ea typeface="Arial"/>
                <a:cs typeface="Arial"/>
              </a:defRPr>
            </a:lvl8pPr>
            <a:lvl9pPr>
              <a:defRPr sz="2025" b="0">
                <a:solidFill>
                  <a:srgbClr val="183942"/>
                </a:solidFill>
                <a:latin typeface="Arial"/>
                <a:ea typeface="Arial"/>
                <a:cs typeface="Arial"/>
              </a:defRPr>
            </a:lvl9pPr>
          </a:lstStyle>
          <a:p xmlns:a="http://schemas.openxmlformats.org/drawingml/2006/main">
            <a:pPr>
              <a:defRPr sz="2025" b="0">
                <a:solidFill>
                  <a:srgbClr val="183942"/>
                </a:solidFill>
                <a:latin typeface="Arial"/>
                <a:ea typeface="Arial"/>
                <a:cs typeface="Arial"/>
              </a:defRPr>
            </a:pPr>
            <a:r>
              <a:rPr sz="2025" b="0">
                <a:solidFill>
                  <a:srgbClr val="183942"/>
                </a:solidFill>
                <a:latin typeface="Arial"/>
                <a:ea typeface="Arial"/>
                <a:cs typeface="Arial"/>
              </a:rPr>
              <a:t>Xem lại evidence</a:t>
            </a:r>
          </a:p>
          <a:p xmlns:a="http://schemas.openxmlformats.org/drawingml/2006/main">
            <a:pPr>
              <a:defRPr sz="2025" b="0">
                <a:solidFill>
                  <a:srgbClr val="183942"/>
                </a:solidFill>
                <a:latin typeface="Arial"/>
                <a:ea typeface="Arial"/>
                <a:cs typeface="Arial"/>
              </a:defRPr>
            </a:pPr>
            <a:r>
              <a:rPr sz="2025" b="0">
                <a:solidFill>
                  <a:srgbClr val="183942"/>
                </a:solidFill>
                <a:latin typeface="Arial"/>
                <a:ea typeface="Arial"/>
                <a:cs typeface="Arial"/>
              </a:rPr>
              <a:t>Tải báo cáo TXT / JSON</a:t>
            </a:r>
          </a:p>
          <a:p xmlns:a="http://schemas.openxmlformats.org/drawingml/2006/main">
            <a:pPr>
              <a:defRPr sz="2025" b="0">
                <a:solidFill>
                  <a:srgbClr val="183942"/>
                </a:solidFill>
                <a:latin typeface="Arial"/>
                <a:ea typeface="Arial"/>
                <a:cs typeface="Arial"/>
              </a:defRPr>
            </a:pPr>
            <a:r>
              <a:rPr sz="2025" b="0">
                <a:solidFill>
                  <a:srgbClr val="183942"/>
                </a:solidFill>
                <a:latin typeface="Arial"/>
                <a:ea typeface="Arial"/>
                <a:cs typeface="Arial"/>
              </a:rPr>
              <a:t>Chưa hỗ trợ Sexual / Dangerous</a:t>
            </a:r>
          </a:p>
        </p:txBody>
      </p:sp>
      <p:pic>
        <p:nvPicPr>
          <p:cNvPr id="6" name="">
            <a:extLst xmlns:a="http://schemas.openxmlformats.org/drawingml/2006/main">
              <a:ext uri="{FF2B5EF4-FFF2-40B4-BE49-F238E27FC236}">
                <a16:creationId xmlns:a16="http://schemas.microsoft.com/office/drawing/2014/main" id="{C7E0A8E4-61EB-482A-AB4C-0B39EFAF6652}"/>
              </a:ext>
            </a:extLst>
          </p:cNvPr>
          <p:cNvPicPr>
            <a:picLocks xmlns:a="http://schemas.openxmlformats.org/drawingml/2006/main" noChangeAspect="1"/>
          </p:cNvPicPr>
          <p:nvPr/>
        </p:nvPicPr>
        <p:blipFill>
          <a:blip xmlns:r="http://schemas.openxmlformats.org/officeDocument/2006/relationships" xmlns:a="http://schemas.openxmlformats.org/drawingml/2006/main" r:embed="R83ace3b3295b4af7"/>
          <a:stretch xmlns:a="http://schemas.openxmlformats.org/drawingml/2006/main"/>
        </p:blipFill>
        <p:spPr>
          <a:xfrm xmlns:a="http://schemas.openxmlformats.org/drawingml/2006/main">
            <a:off x="5421963" y="1695450"/>
            <a:ext cx="5920073" cy="4333875"/>
          </a:xfrm>
          <a:prstGeom xmlns:a="http://schemas.openxmlformats.org/drawingml/2006/main" prst="rect">
            <a:avLst/>
          </a:prstGeom>
        </p:spPr>
      </p:pic>
    </p:spTree>
    <p:extLst>
      <p:ext uri="{BB962C8B-B14F-4D97-AF65-F5344CB8AC3E}">
        <p14:creationId xmlns:p14="http://schemas.microsoft.com/office/powerpoint/2010/main" val="1108568840"/>
      </p:ext>
    </p:extLst>
  </p:cSld>
</p:sld>
</file>

<file path=ppt/slides/slide3.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A0DB8F-1D64-4B6D-BE82-1C649B2BD6C0}"/>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Dữ liệu và tập test giữ riêng</a:t>
            </a:r>
          </a:p>
        </p:txBody>
      </p:sp>
      <p:sp>
        <p:nvSpPr>
          <p:cNvPr id="2" name="">
            <a:extLst xmlns:a="http://schemas.openxmlformats.org/drawingml/2006/main">
              <a:ext uri="{FF2B5EF4-FFF2-40B4-BE49-F238E27FC236}">
                <a16:creationId xmlns:a16="http://schemas.microsoft.com/office/drawing/2014/main" id="{E26DCDA6-3ED9-47A4-83FD-1B3B2A60FFB0}"/>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178924D8-2018-4BDC-961A-CDF0420B608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A267365B-87F8-492C-AA98-689D97346AD8}"/>
              </a:ext>
            </a:extLst>
          </p:cNvPr>
          <p:cNvGraphicFramePr/>
          <p:nvPr/>
        </p:nvGraphicFramePr>
        <p:xfrm>
          <a:off xmlns:a="http://schemas.openxmlformats.org/drawingml/2006/main" x="609600" y="1905000"/>
          <a:ext xmlns:a="http://schemas.openxmlformats.org/drawingml/2006/main" cx="10972800" cy="2667000"/>
        </p:xfrm>
        <a:graphic xmlns:a="http://schemas.openxmlformats.org/drawingml/2006/main">
          <a:graphicData uri="http://schemas.openxmlformats.org/drawingml/2006/table">
            <a:tbl>
              <a:tblPr/>
              <a:tblGrid>
                <a:gridCol w="2667000"/>
                <a:gridCol w="1714500"/>
                <a:gridCol w="2095500"/>
                <a:gridCol w="1714500"/>
                <a:gridCol w="2781300"/>
              </a:tblGrid>
              <a:tr h="666750">
                <a:tc>
                  <a:txBody>
                    <a:bodyPr/>
                    <a:lstStyle/>
                    <a:p>
                      <a:r>
                        <a:rPr sz="2025" b="1">
                          <a:solidFill>
                            <a:srgbClr val="183942"/>
                          </a:solidFill>
                          <a:latin typeface="Arial"/>
                          <a:ea typeface="Arial"/>
                          <a:cs typeface="Arial"/>
                        </a:rPr>
                        <a:t>Nguồn</a:t>
                      </a:r>
                    </a:p>
                  </a:txBody>
                  <a:tcPr marL="91440" marR="91440" marT="45720" marB="45720">
                    <a:lnL w="9525">
                      <a:solidFill>
                        <a:srgbClr val="CCDCD8"/>
                      </a:solidFill>
                      <a:prstDash val="solid"/>
                    </a:lnL>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Train</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Validation</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Test</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c>
                  <a:txBody>
                    <a:bodyPr/>
                    <a:lstStyle/>
                    <a:p>
                      <a:r>
                        <a:rPr sz="2025" b="1">
                          <a:solidFill>
                            <a:srgbClr val="183942"/>
                          </a:solidFill>
                          <a:latin typeface="Arial"/>
                          <a:ea typeface="Arial"/>
                          <a:cs typeface="Arial"/>
                        </a:rPr>
                        <a:t>Đơn vị</a:t>
                      </a:r>
                    </a:p>
                  </a:txBody>
                  <a:tcPr marL="91440" marR="91440" marT="45720" marB="45720">
                    <a:lnR w="9525">
                      <a:solidFill>
                        <a:srgbClr val="CCDCD8"/>
                      </a:solidFill>
                      <a:prstDash val="solid"/>
                    </a:lnR>
                    <a:lnT w="9525">
                      <a:solidFill>
                        <a:srgbClr val="CCDCD8"/>
                      </a:solidFill>
                      <a:prstDash val="solid"/>
                    </a:lnT>
                    <a:lnB w="9525">
                      <a:solidFill>
                        <a:srgbClr val="CCDCD8"/>
                      </a:solidFill>
                      <a:prstDash val="solid"/>
                    </a:lnB>
                    <a:solidFill>
                      <a:srgbClr val="DFEFED"/>
                    </a:solidFill>
                  </a:tcPr>
                </a:tc>
              </a:tr>
              <a:tr h="666750">
                <a:tc>
                  <a:txBody>
                    <a:bodyPr/>
                    <a:lstStyle/>
                    <a:p>
                      <a:r>
                        <a:rPr sz="2025" b="0">
                          <a:solidFill>
                            <a:srgbClr val="183942"/>
                          </a:solidFill>
                          <a:latin typeface="Arial"/>
                          <a:ea typeface="Arial"/>
                          <a:cs typeface="Arial"/>
                        </a:rPr>
                        <a:t>RLVS</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1.157</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386</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386</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Video</a:t>
                      </a:r>
                    </a:p>
                  </a:txBody>
                  <a:tcPr marL="91440" marR="91440" marT="45720" marB="45720">
                    <a:lnR w="9525">
                      <a:solidFill>
                        <a:srgbClr val="CCDCD8"/>
                      </a:solidFill>
                      <a:prstDash val="solid"/>
                    </a:lnR>
                    <a:lnB w="9525">
                      <a:solidFill>
                        <a:srgbClr val="CCDCD8"/>
                      </a:solidFill>
                      <a:prstDash val="solid"/>
                    </a:lnB>
                    <a:solidFill>
                      <a:srgbClr val="FFFFFF"/>
                    </a:solidFill>
                  </a:tcPr>
                </a:tc>
              </a:tr>
              <a:tr h="666750">
                <a:tc>
                  <a:txBody>
                    <a:bodyPr/>
                    <a:lstStyle/>
                    <a:p>
                      <a:r>
                        <a:rPr sz="2025" b="0">
                          <a:solidFill>
                            <a:srgbClr val="183942"/>
                          </a:solidFill>
                          <a:latin typeface="Arial"/>
                          <a:ea typeface="Arial"/>
                          <a:cs typeface="Arial"/>
                        </a:rPr>
                        <a:t>ViCTSD</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6.965</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1.975</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988</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Bình luận</a:t>
                      </a:r>
                    </a:p>
                  </a:txBody>
                  <a:tcPr marL="91440" marR="91440" marT="45720" marB="45720">
                    <a:lnR w="9525">
                      <a:solidFill>
                        <a:srgbClr val="CCDCD8"/>
                      </a:solidFill>
                      <a:prstDash val="solid"/>
                    </a:lnR>
                    <a:lnB w="9525">
                      <a:solidFill>
                        <a:srgbClr val="CCDCD8"/>
                      </a:solidFill>
                      <a:prstDash val="solid"/>
                    </a:lnB>
                    <a:solidFill>
                      <a:srgbClr val="FFFFFF"/>
                    </a:solidFill>
                  </a:tcPr>
                </a:tc>
              </a:tr>
              <a:tr h="666750">
                <a:tc>
                  <a:txBody>
                    <a:bodyPr/>
                    <a:lstStyle/>
                    <a:p>
                      <a:r>
                        <a:rPr sz="2025" b="0">
                          <a:solidFill>
                            <a:srgbClr val="183942"/>
                          </a:solidFill>
                          <a:latin typeface="Arial"/>
                          <a:ea typeface="Arial"/>
                          <a:cs typeface="Arial"/>
                        </a:rPr>
                        <a:t>Pilot v1</a:t>
                      </a:r>
                    </a:p>
                  </a:txBody>
                  <a:tcPr marL="91440" marR="91440" marT="45720" marB="45720">
                    <a:lnL w="9525">
                      <a:solidFill>
                        <a:srgbClr val="CCDCD8"/>
                      </a:solidFill>
                      <a:prstDash val="solid"/>
                    </a:lnL>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17</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4</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4</a:t>
                      </a:r>
                    </a:p>
                  </a:txBody>
                  <a:tcPr marL="91440" marR="91440" marT="45720" marB="45720">
                    <a:lnR w="9525">
                      <a:solidFill>
                        <a:srgbClr val="CCDCD8"/>
                      </a:solidFill>
                      <a:prstDash val="solid"/>
                    </a:lnR>
                    <a:lnB w="9525">
                      <a:solidFill>
                        <a:srgbClr val="CCDCD8"/>
                      </a:solidFill>
                      <a:prstDash val="solid"/>
                    </a:lnB>
                    <a:solidFill>
                      <a:srgbClr val="FFFFFF"/>
                    </a:solidFill>
                  </a:tcPr>
                </a:tc>
                <a:tc>
                  <a:txBody>
                    <a:bodyPr/>
                    <a:lstStyle/>
                    <a:p>
                      <a:r>
                        <a:rPr sz="2025" b="0">
                          <a:solidFill>
                            <a:srgbClr val="183942"/>
                          </a:solidFill>
                          <a:latin typeface="Arial"/>
                          <a:ea typeface="Arial"/>
                          <a:cs typeface="Arial"/>
                        </a:rPr>
                        <a:t>Đoạn 25 giây</a:t>
                      </a:r>
                    </a:p>
                  </a:txBody>
                  <a:tcPr marL="91440" marR="91440" marT="45720" marB="45720">
                    <a:lnR w="9525">
                      <a:solidFill>
                        <a:srgbClr val="CCDCD8"/>
                      </a:solidFill>
                      <a:prstDash val="solid"/>
                    </a:lnR>
                    <a:lnB w="9525">
                      <a:solidFill>
                        <a:srgbClr val="CCDCD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662AD1-62DC-4BEB-A353-64252A323C8B}"/>
              </a:ext>
            </a:extLst>
          </p:cNvPr>
          <p:cNvSpPr>
            <a:spLocks xmlns:a="http://schemas.openxmlformats.org/drawingml/2006/main" noGrp="1"/>
          </p:cNvSpPr>
          <p:nvPr/>
        </p:nvSpPr>
        <p:spPr>
          <a:xfrm xmlns:a="http://schemas.openxmlformats.org/drawingml/2006/main">
            <a:off x="609600" y="504825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defRPr sz="2100" b="0">
                <a:solidFill>
                  <a:srgbClr val="183942"/>
                </a:solidFill>
                <a:latin typeface="Arial"/>
                <a:ea typeface="Arial"/>
                <a:cs typeface="Arial"/>
              </a:defRPr>
            </a:lvl1pPr>
            <a:lvl2pPr>
              <a:defRPr sz="2100" b="0">
                <a:solidFill>
                  <a:srgbClr val="183942"/>
                </a:solidFill>
                <a:latin typeface="Arial"/>
                <a:ea typeface="Arial"/>
                <a:cs typeface="Arial"/>
              </a:defRPr>
            </a:lvl2pPr>
            <a:lvl3pPr>
              <a:defRPr sz="2100" b="0">
                <a:solidFill>
                  <a:srgbClr val="183942"/>
                </a:solidFill>
                <a:latin typeface="Arial"/>
                <a:ea typeface="Arial"/>
                <a:cs typeface="Arial"/>
              </a:defRPr>
            </a:lvl3pPr>
            <a:lvl4pPr>
              <a:defRPr sz="2100" b="0">
                <a:solidFill>
                  <a:srgbClr val="183942"/>
                </a:solidFill>
                <a:latin typeface="Arial"/>
                <a:ea typeface="Arial"/>
                <a:cs typeface="Arial"/>
              </a:defRPr>
            </a:lvl4pPr>
            <a:lvl5pPr>
              <a:defRPr sz="2100" b="0">
                <a:solidFill>
                  <a:srgbClr val="183942"/>
                </a:solidFill>
                <a:latin typeface="Arial"/>
                <a:ea typeface="Arial"/>
                <a:cs typeface="Arial"/>
              </a:defRPr>
            </a:lvl5pPr>
            <a:lvl6pPr>
              <a:defRPr sz="2100" b="0">
                <a:solidFill>
                  <a:srgbClr val="183942"/>
                </a:solidFill>
                <a:latin typeface="Arial"/>
                <a:ea typeface="Arial"/>
                <a:cs typeface="Arial"/>
              </a:defRPr>
            </a:lvl6pPr>
            <a:lvl7pPr>
              <a:defRPr sz="2100" b="0">
                <a:solidFill>
                  <a:srgbClr val="183942"/>
                </a:solidFill>
                <a:latin typeface="Arial"/>
                <a:ea typeface="Arial"/>
                <a:cs typeface="Arial"/>
              </a:defRPr>
            </a:lvl7pPr>
            <a:lvl8pPr>
              <a:defRPr sz="2100" b="0">
                <a:solidFill>
                  <a:srgbClr val="183942"/>
                </a:solidFill>
                <a:latin typeface="Arial"/>
                <a:ea typeface="Arial"/>
                <a:cs typeface="Arial"/>
              </a:defRPr>
            </a:lvl8pPr>
            <a:lvl9pPr>
              <a:defRPr sz="2100" b="0">
                <a:solidFill>
                  <a:srgbClr val="183942"/>
                </a:solidFill>
                <a:latin typeface="Arial"/>
                <a:ea typeface="Arial"/>
                <a:cs typeface="Arial"/>
              </a:defRPr>
            </a:lvl9pPr>
          </a:lstStyle>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Pilot: 25 đoạn từ 8 video gốc, 5 nhóm nguồn</a:t>
            </a:r>
          </a:p>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Chia theo nhóm trước khi lấy frame</a:t>
            </a:r>
          </a:p>
        </p:txBody>
      </p:sp>
    </p:spTree>
    <p:extLst>
      <p:ext uri="{BB962C8B-B14F-4D97-AF65-F5344CB8AC3E}">
        <p14:creationId xmlns:p14="http://schemas.microsoft.com/office/powerpoint/2010/main" val="1646103713"/>
      </p:ext>
    </p:extLst>
  </p:cSld>
</p:sld>
</file>

<file path=ppt/slides/slide4.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131440-E425-44C0-AB0A-761838C3B800}"/>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Hai nhánh phân tích trên CPU</a:t>
            </a:r>
          </a:p>
        </p:txBody>
      </p:sp>
      <p:sp>
        <p:nvSpPr>
          <p:cNvPr id="2" name="">
            <a:extLst xmlns:a="http://schemas.openxmlformats.org/drawingml/2006/main">
              <a:ext uri="{FF2B5EF4-FFF2-40B4-BE49-F238E27FC236}">
                <a16:creationId xmlns:a16="http://schemas.microsoft.com/office/drawing/2014/main" id="{5DD40906-E1E5-494A-BE17-2640942BF0E3}"/>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8106DC86-93D2-4A5C-838A-30689C21330A}"/>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298B214-C410-4DB1-B83D-3A8E140EC53A}"/>
              </a:ext>
            </a:extLst>
          </p:cNvPr>
          <p:cNvSpPr>
            <a:spLocks xmlns:a="http://schemas.openxmlformats.org/drawingml/2006/main" noGrp="1"/>
          </p:cNvSpPr>
          <p:nvPr/>
        </p:nvSpPr>
        <p:spPr>
          <a:xfrm xmlns:a="http://schemas.openxmlformats.org/drawingml/2006/main">
            <a:off x="609600" y="1857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7D83"/>
                </a:solidFill>
                <a:latin typeface="Arial"/>
                <a:ea typeface="Arial"/>
                <a:cs typeface="Arial"/>
              </a:defRPr>
            </a:defPPr>
            <a:lvl1pPr>
              <a:defRPr sz="2100" b="1">
                <a:solidFill>
                  <a:srgbClr val="147D83"/>
                </a:solidFill>
                <a:latin typeface="Arial"/>
                <a:ea typeface="Arial"/>
                <a:cs typeface="Arial"/>
              </a:defRPr>
            </a:lvl1pPr>
            <a:lvl2pPr>
              <a:defRPr sz="2100" b="1">
                <a:solidFill>
                  <a:srgbClr val="147D83"/>
                </a:solidFill>
                <a:latin typeface="Arial"/>
                <a:ea typeface="Arial"/>
                <a:cs typeface="Arial"/>
              </a:defRPr>
            </a:lvl2pPr>
            <a:lvl3pPr>
              <a:defRPr sz="2100" b="1">
                <a:solidFill>
                  <a:srgbClr val="147D83"/>
                </a:solidFill>
                <a:latin typeface="Arial"/>
                <a:ea typeface="Arial"/>
                <a:cs typeface="Arial"/>
              </a:defRPr>
            </a:lvl3pPr>
            <a:lvl4pPr>
              <a:defRPr sz="2100" b="1">
                <a:solidFill>
                  <a:srgbClr val="147D83"/>
                </a:solidFill>
                <a:latin typeface="Arial"/>
                <a:ea typeface="Arial"/>
                <a:cs typeface="Arial"/>
              </a:defRPr>
            </a:lvl4pPr>
            <a:lvl5pPr>
              <a:defRPr sz="2100" b="1">
                <a:solidFill>
                  <a:srgbClr val="147D83"/>
                </a:solidFill>
                <a:latin typeface="Arial"/>
                <a:ea typeface="Arial"/>
                <a:cs typeface="Arial"/>
              </a:defRPr>
            </a:lvl5pPr>
            <a:lvl6pPr>
              <a:defRPr sz="2100" b="1">
                <a:solidFill>
                  <a:srgbClr val="147D83"/>
                </a:solidFill>
                <a:latin typeface="Arial"/>
                <a:ea typeface="Arial"/>
                <a:cs typeface="Arial"/>
              </a:defRPr>
            </a:lvl6pPr>
            <a:lvl7pPr>
              <a:defRPr sz="2100" b="1">
                <a:solidFill>
                  <a:srgbClr val="147D83"/>
                </a:solidFill>
                <a:latin typeface="Arial"/>
                <a:ea typeface="Arial"/>
                <a:cs typeface="Arial"/>
              </a:defRPr>
            </a:lvl7pPr>
            <a:lvl8pPr>
              <a:defRPr sz="2100" b="1">
                <a:solidFill>
                  <a:srgbClr val="147D83"/>
                </a:solidFill>
                <a:latin typeface="Arial"/>
                <a:ea typeface="Arial"/>
                <a:cs typeface="Arial"/>
              </a:defRPr>
            </a:lvl8pPr>
            <a:lvl9pPr>
              <a:defRPr sz="2100" b="1">
                <a:solidFill>
                  <a:srgbClr val="147D83"/>
                </a:solidFill>
                <a:latin typeface="Arial"/>
                <a:ea typeface="Arial"/>
                <a:cs typeface="Arial"/>
              </a:defRPr>
            </a:lvl9pPr>
          </a:lstStyle>
          <a:p xmlns:a="http://schemas.openxmlformats.org/drawingml/2006/main">
            <a:pPr>
              <a:defRPr sz="2100" b="1">
                <a:solidFill>
                  <a:srgbClr val="147D83"/>
                </a:solidFill>
                <a:latin typeface="Arial"/>
                <a:ea typeface="Arial"/>
                <a:cs typeface="Arial"/>
              </a:defRPr>
            </a:pPr>
            <a:r>
              <a:rPr sz="2100" b="1">
                <a:solidFill>
                  <a:srgbClr val="147D83"/>
                </a:solidFill>
                <a:latin typeface="Arial"/>
                <a:ea typeface="Arial"/>
                <a:cs typeface="Arial"/>
              </a:rPr>
              <a:t>HÌNH ẢNH</a:t>
            </a:r>
          </a:p>
        </p:txBody>
      </p:sp>
      <p:sp>
        <p:nvSpPr>
          <p:cNvPr id="5" name="">
            <a:extLst xmlns:a="http://schemas.openxmlformats.org/drawingml/2006/main">
              <a:ext uri="{FF2B5EF4-FFF2-40B4-BE49-F238E27FC236}">
                <a16:creationId xmlns:a16="http://schemas.microsoft.com/office/drawing/2014/main" id="{19E71669-A978-496C-A118-47CD2ED7399F}"/>
              </a:ext>
            </a:extLst>
          </p:cNvPr>
          <p:cNvSpPr>
            <a:spLocks xmlns:a="http://schemas.openxmlformats.org/drawingml/2006/main" noGrp="1"/>
          </p:cNvSpPr>
          <p:nvPr/>
        </p:nvSpPr>
        <p:spPr>
          <a:xfrm xmlns:a="http://schemas.openxmlformats.org/drawingml/2006/main">
            <a:off x="609600" y="249555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Tối đa 8 frame mỗi video</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ResNet18 đóng băng</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Mean + max pooling, 1.024 chiều</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Logistic Regression</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Ngưỡng Violence: 0,43</a:t>
            </a:r>
          </a:p>
        </p:txBody>
      </p:sp>
      <p:sp>
        <p:nvSpPr>
          <p:cNvPr id="6" name="">
            <a:extLst xmlns:a="http://schemas.openxmlformats.org/drawingml/2006/main">
              <a:ext uri="{FF2B5EF4-FFF2-40B4-BE49-F238E27FC236}">
                <a16:creationId xmlns:a16="http://schemas.microsoft.com/office/drawing/2014/main" id="{7708EA7A-3D39-4CE7-9B96-F858CD0C9090}"/>
              </a:ext>
            </a:extLst>
          </p:cNvPr>
          <p:cNvSpPr>
            <a:spLocks xmlns:a="http://schemas.openxmlformats.org/drawingml/2006/main" noGrp="1"/>
          </p:cNvSpPr>
          <p:nvPr/>
        </p:nvSpPr>
        <p:spPr>
          <a:xfrm xmlns:a="http://schemas.openxmlformats.org/drawingml/2006/main">
            <a:off x="6477000" y="1857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7D83"/>
                </a:solidFill>
                <a:latin typeface="Arial"/>
                <a:ea typeface="Arial"/>
                <a:cs typeface="Arial"/>
              </a:defRPr>
            </a:defPPr>
            <a:lvl1pPr>
              <a:defRPr sz="2100" b="1">
                <a:solidFill>
                  <a:srgbClr val="147D83"/>
                </a:solidFill>
                <a:latin typeface="Arial"/>
                <a:ea typeface="Arial"/>
                <a:cs typeface="Arial"/>
              </a:defRPr>
            </a:lvl1pPr>
            <a:lvl2pPr>
              <a:defRPr sz="2100" b="1">
                <a:solidFill>
                  <a:srgbClr val="147D83"/>
                </a:solidFill>
                <a:latin typeface="Arial"/>
                <a:ea typeface="Arial"/>
                <a:cs typeface="Arial"/>
              </a:defRPr>
            </a:lvl2pPr>
            <a:lvl3pPr>
              <a:defRPr sz="2100" b="1">
                <a:solidFill>
                  <a:srgbClr val="147D83"/>
                </a:solidFill>
                <a:latin typeface="Arial"/>
                <a:ea typeface="Arial"/>
                <a:cs typeface="Arial"/>
              </a:defRPr>
            </a:lvl3pPr>
            <a:lvl4pPr>
              <a:defRPr sz="2100" b="1">
                <a:solidFill>
                  <a:srgbClr val="147D83"/>
                </a:solidFill>
                <a:latin typeface="Arial"/>
                <a:ea typeface="Arial"/>
                <a:cs typeface="Arial"/>
              </a:defRPr>
            </a:lvl4pPr>
            <a:lvl5pPr>
              <a:defRPr sz="2100" b="1">
                <a:solidFill>
                  <a:srgbClr val="147D83"/>
                </a:solidFill>
                <a:latin typeface="Arial"/>
                <a:ea typeface="Arial"/>
                <a:cs typeface="Arial"/>
              </a:defRPr>
            </a:lvl5pPr>
            <a:lvl6pPr>
              <a:defRPr sz="2100" b="1">
                <a:solidFill>
                  <a:srgbClr val="147D83"/>
                </a:solidFill>
                <a:latin typeface="Arial"/>
                <a:ea typeface="Arial"/>
                <a:cs typeface="Arial"/>
              </a:defRPr>
            </a:lvl6pPr>
            <a:lvl7pPr>
              <a:defRPr sz="2100" b="1">
                <a:solidFill>
                  <a:srgbClr val="147D83"/>
                </a:solidFill>
                <a:latin typeface="Arial"/>
                <a:ea typeface="Arial"/>
                <a:cs typeface="Arial"/>
              </a:defRPr>
            </a:lvl7pPr>
            <a:lvl8pPr>
              <a:defRPr sz="2100" b="1">
                <a:solidFill>
                  <a:srgbClr val="147D83"/>
                </a:solidFill>
                <a:latin typeface="Arial"/>
                <a:ea typeface="Arial"/>
                <a:cs typeface="Arial"/>
              </a:defRPr>
            </a:lvl8pPr>
            <a:lvl9pPr>
              <a:defRPr sz="2100" b="1">
                <a:solidFill>
                  <a:srgbClr val="147D83"/>
                </a:solidFill>
                <a:latin typeface="Arial"/>
                <a:ea typeface="Arial"/>
                <a:cs typeface="Arial"/>
              </a:defRPr>
            </a:lvl9pPr>
          </a:lstStyle>
          <a:p xmlns:a="http://schemas.openxmlformats.org/drawingml/2006/main">
            <a:pPr>
              <a:defRPr sz="2100" b="1">
                <a:solidFill>
                  <a:srgbClr val="147D83"/>
                </a:solidFill>
                <a:latin typeface="Arial"/>
                <a:ea typeface="Arial"/>
                <a:cs typeface="Arial"/>
              </a:defRPr>
            </a:pPr>
            <a:r>
              <a:rPr sz="2100" b="1">
                <a:solidFill>
                  <a:srgbClr val="147D83"/>
                </a:solidFill>
                <a:latin typeface="Arial"/>
                <a:ea typeface="Arial"/>
                <a:cs typeface="Arial"/>
              </a:rPr>
              <a:t>LỜI NÓI</a:t>
            </a:r>
          </a:p>
        </p:txBody>
      </p:sp>
      <p:sp>
        <p:nvSpPr>
          <p:cNvPr id="7" name="">
            <a:extLst xmlns:a="http://schemas.openxmlformats.org/drawingml/2006/main">
              <a:ext uri="{FF2B5EF4-FFF2-40B4-BE49-F238E27FC236}">
                <a16:creationId xmlns:a16="http://schemas.microsoft.com/office/drawing/2014/main" id="{03C3CF17-750C-47C0-AA56-9B947A799CB8}"/>
              </a:ext>
            </a:extLst>
          </p:cNvPr>
          <p:cNvSpPr>
            <a:spLocks xmlns:a="http://schemas.openxmlformats.org/drawingml/2006/main" noGrp="1"/>
          </p:cNvSpPr>
          <p:nvPr/>
        </p:nvSpPr>
        <p:spPr>
          <a:xfrm xmlns:a="http://schemas.openxmlformats.org/drawingml/2006/main">
            <a:off x="6477000" y="2495550"/>
            <a:ext cx="5095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Whisper base, CPU int8</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Transcript tiếng Việt</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TF-IDF ký tự 3–5 gram</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Logistic Regression</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Ngưỡng Toxic: 0,59</a:t>
            </a:r>
          </a:p>
        </p:txBody>
      </p:sp>
      <p:sp>
        <p:nvSpPr>
          <p:cNvPr id="8" name="">
            <a:extLst xmlns:a="http://schemas.openxmlformats.org/drawingml/2006/main">
              <a:ext uri="{FF2B5EF4-FFF2-40B4-BE49-F238E27FC236}">
                <a16:creationId xmlns:a16="http://schemas.microsoft.com/office/drawing/2014/main" id="{B2189E54-EA25-427F-ACD5-97C0EA7F1679}"/>
              </a:ext>
            </a:extLst>
          </p:cNvPr>
          <p:cNvSpPr>
            <a:spLocks xmlns:a="http://schemas.openxmlformats.org/drawingml/2006/main" noGrp="1"/>
          </p:cNvSpPr>
          <p:nvPr/>
        </p:nvSpPr>
        <p:spPr>
          <a:xfrm xmlns:a="http://schemas.openxmlformats.org/drawingml/2006/main">
            <a:off x="609600" y="55245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942"/>
                </a:solidFill>
                <a:latin typeface="Arial"/>
                <a:ea typeface="Arial"/>
                <a:cs typeface="Arial"/>
              </a:defRPr>
            </a:defPPr>
            <a:lvl1pPr>
              <a:defRPr sz="2025" b="1">
                <a:solidFill>
                  <a:srgbClr val="183942"/>
                </a:solidFill>
                <a:latin typeface="Arial"/>
                <a:ea typeface="Arial"/>
                <a:cs typeface="Arial"/>
              </a:defRPr>
            </a:lvl1pPr>
            <a:lvl2pPr>
              <a:defRPr sz="2025" b="1">
                <a:solidFill>
                  <a:srgbClr val="183942"/>
                </a:solidFill>
                <a:latin typeface="Arial"/>
                <a:ea typeface="Arial"/>
                <a:cs typeface="Arial"/>
              </a:defRPr>
            </a:lvl2pPr>
            <a:lvl3pPr>
              <a:defRPr sz="2025" b="1">
                <a:solidFill>
                  <a:srgbClr val="183942"/>
                </a:solidFill>
                <a:latin typeface="Arial"/>
                <a:ea typeface="Arial"/>
                <a:cs typeface="Arial"/>
              </a:defRPr>
            </a:lvl3pPr>
            <a:lvl4pPr>
              <a:defRPr sz="2025" b="1">
                <a:solidFill>
                  <a:srgbClr val="183942"/>
                </a:solidFill>
                <a:latin typeface="Arial"/>
                <a:ea typeface="Arial"/>
                <a:cs typeface="Arial"/>
              </a:defRPr>
            </a:lvl4pPr>
            <a:lvl5pPr>
              <a:defRPr sz="2025" b="1">
                <a:solidFill>
                  <a:srgbClr val="183942"/>
                </a:solidFill>
                <a:latin typeface="Arial"/>
                <a:ea typeface="Arial"/>
                <a:cs typeface="Arial"/>
              </a:defRPr>
            </a:lvl5pPr>
            <a:lvl6pPr>
              <a:defRPr sz="2025" b="1">
                <a:solidFill>
                  <a:srgbClr val="183942"/>
                </a:solidFill>
                <a:latin typeface="Arial"/>
                <a:ea typeface="Arial"/>
                <a:cs typeface="Arial"/>
              </a:defRPr>
            </a:lvl6pPr>
            <a:lvl7pPr>
              <a:defRPr sz="2025" b="1">
                <a:solidFill>
                  <a:srgbClr val="183942"/>
                </a:solidFill>
                <a:latin typeface="Arial"/>
                <a:ea typeface="Arial"/>
                <a:cs typeface="Arial"/>
              </a:defRPr>
            </a:lvl7pPr>
            <a:lvl8pPr>
              <a:defRPr sz="2025" b="1">
                <a:solidFill>
                  <a:srgbClr val="183942"/>
                </a:solidFill>
                <a:latin typeface="Arial"/>
                <a:ea typeface="Arial"/>
                <a:cs typeface="Arial"/>
              </a:defRPr>
            </a:lvl8pPr>
            <a:lvl9pPr>
              <a:defRPr sz="2025" b="1">
                <a:solidFill>
                  <a:srgbClr val="183942"/>
                </a:solidFill>
                <a:latin typeface="Arial"/>
                <a:ea typeface="Arial"/>
                <a:cs typeface="Arial"/>
              </a:defRPr>
            </a:lvl9pPr>
          </a:lstStyle>
          <a:p xmlns:a="http://schemas.openxmlformats.org/drawingml/2006/main">
            <a:pPr>
              <a:defRPr sz="2025" b="1">
                <a:solidFill>
                  <a:srgbClr val="183942"/>
                </a:solidFill>
                <a:latin typeface="Arial"/>
                <a:ea typeface="Arial"/>
                <a:cs typeface="Arial"/>
              </a:defRPr>
            </a:pPr>
            <a:r>
              <a:rPr sz="2025" b="1">
                <a:solidFill>
                  <a:srgbClr val="183942"/>
                </a:solidFill>
                <a:latin typeface="Arial"/>
                <a:ea typeface="Arial"/>
                <a:cs typeface="Arial"/>
              </a:rPr>
              <a:t>Một nhánh vượt ngưỡng: flagged. Các trường hợp còn lại: review.</a:t>
            </a:r>
          </a:p>
        </p:txBody>
      </p:sp>
    </p:spTree>
    <p:extLst>
      <p:ext uri="{BB962C8B-B14F-4D97-AF65-F5344CB8AC3E}">
        <p14:creationId xmlns:p14="http://schemas.microsoft.com/office/powerpoint/2010/main" val="1619662720"/>
      </p:ext>
    </p:extLst>
  </p:cSld>
</p:sld>
</file>

<file path=ppt/slides/slide5.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6F8DBF-FC7C-4823-9A8A-C78386F290C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Violence trên RLVS</a:t>
            </a:r>
          </a:p>
        </p:txBody>
      </p:sp>
      <p:sp>
        <p:nvSpPr>
          <p:cNvPr id="2" name="">
            <a:extLst xmlns:a="http://schemas.openxmlformats.org/drawingml/2006/main">
              <a:ext uri="{FF2B5EF4-FFF2-40B4-BE49-F238E27FC236}">
                <a16:creationId xmlns:a16="http://schemas.microsoft.com/office/drawing/2014/main" id="{BFD10532-D2FE-48D6-98E4-FF511B7E6F18}"/>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BE948B2D-CAAD-4D6D-B21F-B5C1BBA2BD62}"/>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4E663116-A6BF-44E4-8C1C-80FB6AC34249}"/>
              </a:ext>
            </a:extLst>
          </p:cNvPr>
          <p:cNvGraphicFramePr/>
          <p:nvPr/>
        </p:nvGraphicFramePr>
        <p:xfrm>
          <a:off xmlns:a="http://schemas.openxmlformats.org/drawingml/2006/main" x="609600" y="2000250"/>
          <a:ext xmlns:a="http://schemas.openxmlformats.org/drawingml/2006/main" cx="7048500" cy="3619500"/>
        </p:xfrm>
        <a:graphic xmlns:a="http://schemas.openxmlformats.org/drawingml/2006/main">
          <a:graphicData uri="http://schemas.openxmlformats.org/drawingml/2006/chart">
            <c:chart xmlns:r="http://schemas.openxmlformats.org/officeDocument/2006/relationships" xmlns:c="http://schemas.openxmlformats.org/drawingml/2006/chart" r:id="R3654502c357a4d4f"/>
          </a:graphicData>
        </a:graphic>
      </p:graphicFrame>
      <p:sp>
        <p:nvSpPr>
          <p:cNvPr id="5" name="">
            <a:extLst xmlns:a="http://schemas.openxmlformats.org/drawingml/2006/main">
              <a:ext uri="{FF2B5EF4-FFF2-40B4-BE49-F238E27FC236}">
                <a16:creationId xmlns:a16="http://schemas.microsoft.com/office/drawing/2014/main" id="{AFBC4E04-56FE-46B4-BFBD-491838A720F7}"/>
              </a:ext>
            </a:extLst>
          </p:cNvPr>
          <p:cNvSpPr>
            <a:spLocks xmlns:a="http://schemas.openxmlformats.org/drawingml/2006/main" noGrp="1"/>
          </p:cNvSpPr>
          <p:nvPr/>
        </p:nvSpPr>
        <p:spPr>
          <a:xfrm xmlns:a="http://schemas.openxmlformats.org/drawingml/2006/main">
            <a:off x="8143875" y="21145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942"/>
                </a:solidFill>
                <a:latin typeface="Arial"/>
                <a:ea typeface="Arial"/>
                <a:cs typeface="Arial"/>
              </a:defRPr>
            </a:defPPr>
            <a:lvl1pPr>
              <a:defRPr sz="2325" b="1">
                <a:solidFill>
                  <a:srgbClr val="183942"/>
                </a:solidFill>
                <a:latin typeface="Arial"/>
                <a:ea typeface="Arial"/>
                <a:cs typeface="Arial"/>
              </a:defRPr>
            </a:lvl1pPr>
            <a:lvl2pPr>
              <a:defRPr sz="2325" b="1">
                <a:solidFill>
                  <a:srgbClr val="183942"/>
                </a:solidFill>
                <a:latin typeface="Arial"/>
                <a:ea typeface="Arial"/>
                <a:cs typeface="Arial"/>
              </a:defRPr>
            </a:lvl2pPr>
            <a:lvl3pPr>
              <a:defRPr sz="2325" b="1">
                <a:solidFill>
                  <a:srgbClr val="183942"/>
                </a:solidFill>
                <a:latin typeface="Arial"/>
                <a:ea typeface="Arial"/>
                <a:cs typeface="Arial"/>
              </a:defRPr>
            </a:lvl3pPr>
            <a:lvl4pPr>
              <a:defRPr sz="2325" b="1">
                <a:solidFill>
                  <a:srgbClr val="183942"/>
                </a:solidFill>
                <a:latin typeface="Arial"/>
                <a:ea typeface="Arial"/>
                <a:cs typeface="Arial"/>
              </a:defRPr>
            </a:lvl4pPr>
            <a:lvl5pPr>
              <a:defRPr sz="2325" b="1">
                <a:solidFill>
                  <a:srgbClr val="183942"/>
                </a:solidFill>
                <a:latin typeface="Arial"/>
                <a:ea typeface="Arial"/>
                <a:cs typeface="Arial"/>
              </a:defRPr>
            </a:lvl5pPr>
            <a:lvl6pPr>
              <a:defRPr sz="2325" b="1">
                <a:solidFill>
                  <a:srgbClr val="183942"/>
                </a:solidFill>
                <a:latin typeface="Arial"/>
                <a:ea typeface="Arial"/>
                <a:cs typeface="Arial"/>
              </a:defRPr>
            </a:lvl6pPr>
            <a:lvl7pPr>
              <a:defRPr sz="2325" b="1">
                <a:solidFill>
                  <a:srgbClr val="183942"/>
                </a:solidFill>
                <a:latin typeface="Arial"/>
                <a:ea typeface="Arial"/>
                <a:cs typeface="Arial"/>
              </a:defRPr>
            </a:lvl7pPr>
            <a:lvl8pPr>
              <a:defRPr sz="2325" b="1">
                <a:solidFill>
                  <a:srgbClr val="183942"/>
                </a:solidFill>
                <a:latin typeface="Arial"/>
                <a:ea typeface="Arial"/>
                <a:cs typeface="Arial"/>
              </a:defRPr>
            </a:lvl8pPr>
            <a:lvl9pPr>
              <a:defRPr sz="2325" b="1">
                <a:solidFill>
                  <a:srgbClr val="183942"/>
                </a:solidFill>
                <a:latin typeface="Arial"/>
                <a:ea typeface="Arial"/>
                <a:cs typeface="Arial"/>
              </a:defRPr>
            </a:lvl9pPr>
          </a:lstStyle>
          <a:p xmlns:a="http://schemas.openxmlformats.org/drawingml/2006/main">
            <a:pPr>
              <a:defRPr sz="2325" b="1">
                <a:solidFill>
                  <a:srgbClr val="183942"/>
                </a:solidFill>
                <a:latin typeface="Arial"/>
                <a:ea typeface="Arial"/>
                <a:cs typeface="Arial"/>
              </a:defRPr>
            </a:pPr>
            <a:r>
              <a:rPr sz="2325" b="1">
                <a:solidFill>
                  <a:srgbClr val="183942"/>
                </a:solidFill>
                <a:latin typeface="Arial"/>
                <a:ea typeface="Arial"/>
                <a:cs typeface="Arial"/>
              </a:rPr>
              <a:t>386 video test</a:t>
            </a:r>
          </a:p>
          <a:p xmlns:a="http://schemas.openxmlformats.org/drawingml/2006/main">
            <a:pPr>
              <a:defRPr sz="2325" b="1">
                <a:solidFill>
                  <a:srgbClr val="183942"/>
                </a:solidFill>
                <a:latin typeface="Arial"/>
                <a:ea typeface="Arial"/>
                <a:cs typeface="Arial"/>
              </a:defRPr>
            </a:pPr>
            <a:r>
              <a:rPr sz="2325" b="1">
                <a:solidFill>
                  <a:srgbClr val="183942"/>
                </a:solidFill>
                <a:latin typeface="Arial"/>
                <a:ea typeface="Arial"/>
                <a:cs typeface="Arial"/>
              </a:rPr>
              <a:t>198 ca Violence</a:t>
            </a:r>
          </a:p>
        </p:txBody>
      </p:sp>
      <p:sp>
        <p:nvSpPr>
          <p:cNvPr id="6" name="">
            <a:extLst xmlns:a="http://schemas.openxmlformats.org/drawingml/2006/main">
              <a:ext uri="{FF2B5EF4-FFF2-40B4-BE49-F238E27FC236}">
                <a16:creationId xmlns:a16="http://schemas.microsoft.com/office/drawing/2014/main" id="{F6FA5C2F-5336-4F98-91CF-904C49651003}"/>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defRPr sz="2100" b="0">
                <a:solidFill>
                  <a:srgbClr val="183942"/>
                </a:solidFill>
                <a:latin typeface="Arial"/>
                <a:ea typeface="Arial"/>
                <a:cs typeface="Arial"/>
              </a:defRPr>
            </a:lvl1pPr>
            <a:lvl2pPr>
              <a:defRPr sz="2100" b="0">
                <a:solidFill>
                  <a:srgbClr val="183942"/>
                </a:solidFill>
                <a:latin typeface="Arial"/>
                <a:ea typeface="Arial"/>
                <a:cs typeface="Arial"/>
              </a:defRPr>
            </a:lvl2pPr>
            <a:lvl3pPr>
              <a:defRPr sz="2100" b="0">
                <a:solidFill>
                  <a:srgbClr val="183942"/>
                </a:solidFill>
                <a:latin typeface="Arial"/>
                <a:ea typeface="Arial"/>
                <a:cs typeface="Arial"/>
              </a:defRPr>
            </a:lvl3pPr>
            <a:lvl4pPr>
              <a:defRPr sz="2100" b="0">
                <a:solidFill>
                  <a:srgbClr val="183942"/>
                </a:solidFill>
                <a:latin typeface="Arial"/>
                <a:ea typeface="Arial"/>
                <a:cs typeface="Arial"/>
              </a:defRPr>
            </a:lvl4pPr>
            <a:lvl5pPr>
              <a:defRPr sz="2100" b="0">
                <a:solidFill>
                  <a:srgbClr val="183942"/>
                </a:solidFill>
                <a:latin typeface="Arial"/>
                <a:ea typeface="Arial"/>
                <a:cs typeface="Arial"/>
              </a:defRPr>
            </a:lvl5pPr>
            <a:lvl6pPr>
              <a:defRPr sz="2100" b="0">
                <a:solidFill>
                  <a:srgbClr val="183942"/>
                </a:solidFill>
                <a:latin typeface="Arial"/>
                <a:ea typeface="Arial"/>
                <a:cs typeface="Arial"/>
              </a:defRPr>
            </a:lvl6pPr>
            <a:lvl7pPr>
              <a:defRPr sz="2100" b="0">
                <a:solidFill>
                  <a:srgbClr val="183942"/>
                </a:solidFill>
                <a:latin typeface="Arial"/>
                <a:ea typeface="Arial"/>
                <a:cs typeface="Arial"/>
              </a:defRPr>
            </a:lvl7pPr>
            <a:lvl8pPr>
              <a:defRPr sz="2100" b="0">
                <a:solidFill>
                  <a:srgbClr val="183942"/>
                </a:solidFill>
                <a:latin typeface="Arial"/>
                <a:ea typeface="Arial"/>
                <a:cs typeface="Arial"/>
              </a:defRPr>
            </a:lvl8pPr>
            <a:lvl9pPr>
              <a:defRPr sz="2100" b="0">
                <a:solidFill>
                  <a:srgbClr val="183942"/>
                </a:solidFill>
                <a:latin typeface="Arial"/>
                <a:ea typeface="Arial"/>
                <a:cs typeface="Arial"/>
              </a:defRPr>
            </a:lvl9pPr>
          </a:lstStyle>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Bỏ sót: 7</a:t>
            </a:r>
          </a:p>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Cảnh báo nhầm: 9</a:t>
            </a:r>
          </a:p>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Ngưỡng: 0,43</a:t>
            </a:r>
          </a:p>
        </p:txBody>
      </p:sp>
      <p:sp>
        <p:nvSpPr>
          <p:cNvPr id="7" name="">
            <a:extLst xmlns:a="http://schemas.openxmlformats.org/drawingml/2006/main">
              <a:ext uri="{FF2B5EF4-FFF2-40B4-BE49-F238E27FC236}">
                <a16:creationId xmlns:a16="http://schemas.microsoft.com/office/drawing/2014/main" id="{EC3C9BC9-3505-4256-8522-264E869F0C25}"/>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57078"/>
                </a:solidFill>
                <a:latin typeface="Arial"/>
                <a:ea typeface="Arial"/>
                <a:cs typeface="Arial"/>
              </a:defRPr>
            </a:defPPr>
            <a:lvl1pPr>
              <a:defRPr sz="1800" b="0">
                <a:solidFill>
                  <a:srgbClr val="557078"/>
                </a:solidFill>
                <a:latin typeface="Arial"/>
                <a:ea typeface="Arial"/>
                <a:cs typeface="Arial"/>
              </a:defRPr>
            </a:lvl1pPr>
            <a:lvl2pPr>
              <a:defRPr sz="1800" b="0">
                <a:solidFill>
                  <a:srgbClr val="557078"/>
                </a:solidFill>
                <a:latin typeface="Arial"/>
                <a:ea typeface="Arial"/>
                <a:cs typeface="Arial"/>
              </a:defRPr>
            </a:lvl2pPr>
            <a:lvl3pPr>
              <a:defRPr sz="1800" b="0">
                <a:solidFill>
                  <a:srgbClr val="557078"/>
                </a:solidFill>
                <a:latin typeface="Arial"/>
                <a:ea typeface="Arial"/>
                <a:cs typeface="Arial"/>
              </a:defRPr>
            </a:lvl3pPr>
            <a:lvl4pPr>
              <a:defRPr sz="1800" b="0">
                <a:solidFill>
                  <a:srgbClr val="557078"/>
                </a:solidFill>
                <a:latin typeface="Arial"/>
                <a:ea typeface="Arial"/>
                <a:cs typeface="Arial"/>
              </a:defRPr>
            </a:lvl4pPr>
            <a:lvl5pPr>
              <a:defRPr sz="1800" b="0">
                <a:solidFill>
                  <a:srgbClr val="557078"/>
                </a:solidFill>
                <a:latin typeface="Arial"/>
                <a:ea typeface="Arial"/>
                <a:cs typeface="Arial"/>
              </a:defRPr>
            </a:lvl5pPr>
            <a:lvl6pPr>
              <a:defRPr sz="1800" b="0">
                <a:solidFill>
                  <a:srgbClr val="557078"/>
                </a:solidFill>
                <a:latin typeface="Arial"/>
                <a:ea typeface="Arial"/>
                <a:cs typeface="Arial"/>
              </a:defRPr>
            </a:lvl6pPr>
            <a:lvl7pPr>
              <a:defRPr sz="1800" b="0">
                <a:solidFill>
                  <a:srgbClr val="557078"/>
                </a:solidFill>
                <a:latin typeface="Arial"/>
                <a:ea typeface="Arial"/>
                <a:cs typeface="Arial"/>
              </a:defRPr>
            </a:lvl7pPr>
            <a:lvl8pPr>
              <a:defRPr sz="1800" b="0">
                <a:solidFill>
                  <a:srgbClr val="557078"/>
                </a:solidFill>
                <a:latin typeface="Arial"/>
                <a:ea typeface="Arial"/>
                <a:cs typeface="Arial"/>
              </a:defRPr>
            </a:lvl8pPr>
            <a:lvl9pPr>
              <a:defRPr sz="1800" b="0">
                <a:solidFill>
                  <a:srgbClr val="557078"/>
                </a:solidFill>
                <a:latin typeface="Arial"/>
                <a:ea typeface="Arial"/>
                <a:cs typeface="Arial"/>
              </a:defRPr>
            </a:lvl9pPr>
          </a:lstStyle>
          <a:p xmlns:a="http://schemas.openxmlformats.org/drawingml/2006/main">
            <a:pPr>
              <a:defRPr sz="1800" b="0">
                <a:solidFill>
                  <a:srgbClr val="557078"/>
                </a:solidFill>
                <a:latin typeface="Arial"/>
                <a:ea typeface="Arial"/>
                <a:cs typeface="Arial"/>
              </a:defRPr>
            </a:pPr>
            <a:r>
              <a:rPr sz="1800" b="0">
                <a:solidFill>
                  <a:srgbClr val="557078"/>
                </a:solidFill>
                <a:latin typeface="Arial"/>
                <a:ea typeface="Arial"/>
                <a:cs typeface="Arial"/>
              </a:rPr>
              <a:t>Benchmark RLVS. Chưa phải chất lượng kiểm duyệt video trẻ em.</a:t>
            </a:r>
          </a:p>
        </p:txBody>
      </p:sp>
    </p:spTree>
    <p:extLst>
      <p:ext uri="{BB962C8B-B14F-4D97-AF65-F5344CB8AC3E}">
        <p14:creationId xmlns:p14="http://schemas.microsoft.com/office/powerpoint/2010/main" val="774705241"/>
      </p:ext>
    </p:extLst>
  </p:cSld>
</p:sld>
</file>

<file path=ppt/slides/slide6.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3D3B31-206B-4D24-B11D-2E5E297F75B3}"/>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Toxic còn bỏ sót nhiều trường hợp</a:t>
            </a:r>
          </a:p>
        </p:txBody>
      </p:sp>
      <p:sp>
        <p:nvSpPr>
          <p:cNvPr id="2" name="">
            <a:extLst xmlns:a="http://schemas.openxmlformats.org/drawingml/2006/main">
              <a:ext uri="{FF2B5EF4-FFF2-40B4-BE49-F238E27FC236}">
                <a16:creationId xmlns:a16="http://schemas.microsoft.com/office/drawing/2014/main" id="{A519EEC7-3FFB-4128-AAF3-0225CF9FC22C}"/>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BFC79163-B5FB-477D-9D7D-11204DB52F8E}"/>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D7AD9B58-755D-4618-8F59-DF5E3EE96144}"/>
              </a:ext>
            </a:extLst>
          </p:cNvPr>
          <p:cNvGraphicFramePr/>
          <p:nvPr/>
        </p:nvGraphicFramePr>
        <p:xfrm>
          <a:off xmlns:a="http://schemas.openxmlformats.org/drawingml/2006/main" x="609600" y="2000250"/>
          <a:ext xmlns:a="http://schemas.openxmlformats.org/drawingml/2006/main" cx="7048500" cy="3619500"/>
        </p:xfrm>
        <a:graphic xmlns:a="http://schemas.openxmlformats.org/drawingml/2006/main">
          <a:graphicData uri="http://schemas.openxmlformats.org/drawingml/2006/chart">
            <c:chart xmlns:r="http://schemas.openxmlformats.org/officeDocument/2006/relationships" xmlns:c="http://schemas.openxmlformats.org/drawingml/2006/chart" r:id="R6ed6e2e7d7894f2a"/>
          </a:graphicData>
        </a:graphic>
      </p:graphicFrame>
      <p:sp>
        <p:nvSpPr>
          <p:cNvPr id="5" name="">
            <a:extLst xmlns:a="http://schemas.openxmlformats.org/drawingml/2006/main">
              <a:ext uri="{FF2B5EF4-FFF2-40B4-BE49-F238E27FC236}">
                <a16:creationId xmlns:a16="http://schemas.microsoft.com/office/drawing/2014/main" id="{DB443DDE-597C-439D-A8C4-53FD9D99E0EF}"/>
              </a:ext>
            </a:extLst>
          </p:cNvPr>
          <p:cNvSpPr>
            <a:spLocks xmlns:a="http://schemas.openxmlformats.org/drawingml/2006/main" noGrp="1"/>
          </p:cNvSpPr>
          <p:nvPr/>
        </p:nvSpPr>
        <p:spPr>
          <a:xfrm xmlns:a="http://schemas.openxmlformats.org/drawingml/2006/main">
            <a:off x="8143875" y="2114550"/>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942"/>
                </a:solidFill>
                <a:latin typeface="Arial"/>
                <a:ea typeface="Arial"/>
                <a:cs typeface="Arial"/>
              </a:defRPr>
            </a:defPPr>
            <a:lvl1pPr>
              <a:defRPr sz="2325" b="1">
                <a:solidFill>
                  <a:srgbClr val="183942"/>
                </a:solidFill>
                <a:latin typeface="Arial"/>
                <a:ea typeface="Arial"/>
                <a:cs typeface="Arial"/>
              </a:defRPr>
            </a:lvl1pPr>
            <a:lvl2pPr>
              <a:defRPr sz="2325" b="1">
                <a:solidFill>
                  <a:srgbClr val="183942"/>
                </a:solidFill>
                <a:latin typeface="Arial"/>
                <a:ea typeface="Arial"/>
                <a:cs typeface="Arial"/>
              </a:defRPr>
            </a:lvl2pPr>
            <a:lvl3pPr>
              <a:defRPr sz="2325" b="1">
                <a:solidFill>
                  <a:srgbClr val="183942"/>
                </a:solidFill>
                <a:latin typeface="Arial"/>
                <a:ea typeface="Arial"/>
                <a:cs typeface="Arial"/>
              </a:defRPr>
            </a:lvl3pPr>
            <a:lvl4pPr>
              <a:defRPr sz="2325" b="1">
                <a:solidFill>
                  <a:srgbClr val="183942"/>
                </a:solidFill>
                <a:latin typeface="Arial"/>
                <a:ea typeface="Arial"/>
                <a:cs typeface="Arial"/>
              </a:defRPr>
            </a:lvl4pPr>
            <a:lvl5pPr>
              <a:defRPr sz="2325" b="1">
                <a:solidFill>
                  <a:srgbClr val="183942"/>
                </a:solidFill>
                <a:latin typeface="Arial"/>
                <a:ea typeface="Arial"/>
                <a:cs typeface="Arial"/>
              </a:defRPr>
            </a:lvl5pPr>
            <a:lvl6pPr>
              <a:defRPr sz="2325" b="1">
                <a:solidFill>
                  <a:srgbClr val="183942"/>
                </a:solidFill>
                <a:latin typeface="Arial"/>
                <a:ea typeface="Arial"/>
                <a:cs typeface="Arial"/>
              </a:defRPr>
            </a:lvl6pPr>
            <a:lvl7pPr>
              <a:defRPr sz="2325" b="1">
                <a:solidFill>
                  <a:srgbClr val="183942"/>
                </a:solidFill>
                <a:latin typeface="Arial"/>
                <a:ea typeface="Arial"/>
                <a:cs typeface="Arial"/>
              </a:defRPr>
            </a:lvl7pPr>
            <a:lvl8pPr>
              <a:defRPr sz="2325" b="1">
                <a:solidFill>
                  <a:srgbClr val="183942"/>
                </a:solidFill>
                <a:latin typeface="Arial"/>
                <a:ea typeface="Arial"/>
                <a:cs typeface="Arial"/>
              </a:defRPr>
            </a:lvl8pPr>
            <a:lvl9pPr>
              <a:defRPr sz="2325" b="1">
                <a:solidFill>
                  <a:srgbClr val="183942"/>
                </a:solidFill>
                <a:latin typeface="Arial"/>
                <a:ea typeface="Arial"/>
                <a:cs typeface="Arial"/>
              </a:defRPr>
            </a:lvl9pPr>
          </a:lstStyle>
          <a:p xmlns:a="http://schemas.openxmlformats.org/drawingml/2006/main">
            <a:pPr>
              <a:defRPr sz="2325" b="1">
                <a:solidFill>
                  <a:srgbClr val="183942"/>
                </a:solidFill>
                <a:latin typeface="Arial"/>
                <a:ea typeface="Arial"/>
                <a:cs typeface="Arial"/>
              </a:defRPr>
            </a:pPr>
            <a:r>
              <a:rPr sz="2325" b="1">
                <a:solidFill>
                  <a:srgbClr val="183942"/>
                </a:solidFill>
                <a:latin typeface="Arial"/>
                <a:ea typeface="Arial"/>
                <a:cs typeface="Arial"/>
              </a:rPr>
              <a:t>988 bình luận test</a:t>
            </a:r>
          </a:p>
          <a:p xmlns:a="http://schemas.openxmlformats.org/drawingml/2006/main">
            <a:pPr>
              <a:defRPr sz="2325" b="1">
                <a:solidFill>
                  <a:srgbClr val="183942"/>
                </a:solidFill>
                <a:latin typeface="Arial"/>
                <a:ea typeface="Arial"/>
                <a:cs typeface="Arial"/>
              </a:defRPr>
            </a:pPr>
            <a:r>
              <a:rPr sz="2325" b="1">
                <a:solidFill>
                  <a:srgbClr val="183942"/>
                </a:solidFill>
                <a:latin typeface="Arial"/>
                <a:ea typeface="Arial"/>
                <a:cs typeface="Arial"/>
              </a:rPr>
              <a:t>109 ca Toxic</a:t>
            </a:r>
          </a:p>
        </p:txBody>
      </p:sp>
      <p:sp>
        <p:nvSpPr>
          <p:cNvPr id="6" name="">
            <a:extLst xmlns:a="http://schemas.openxmlformats.org/drawingml/2006/main">
              <a:ext uri="{FF2B5EF4-FFF2-40B4-BE49-F238E27FC236}">
                <a16:creationId xmlns:a16="http://schemas.microsoft.com/office/drawing/2014/main" id="{4828E017-41C5-4712-B6C4-39B84254DBAD}"/>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942"/>
                </a:solidFill>
                <a:latin typeface="Arial"/>
                <a:ea typeface="Arial"/>
                <a:cs typeface="Arial"/>
              </a:defRPr>
            </a:defPPr>
            <a:lvl1pPr>
              <a:defRPr sz="2100" b="0">
                <a:solidFill>
                  <a:srgbClr val="183942"/>
                </a:solidFill>
                <a:latin typeface="Arial"/>
                <a:ea typeface="Arial"/>
                <a:cs typeface="Arial"/>
              </a:defRPr>
            </a:lvl1pPr>
            <a:lvl2pPr>
              <a:defRPr sz="2100" b="0">
                <a:solidFill>
                  <a:srgbClr val="183942"/>
                </a:solidFill>
                <a:latin typeface="Arial"/>
                <a:ea typeface="Arial"/>
                <a:cs typeface="Arial"/>
              </a:defRPr>
            </a:lvl2pPr>
            <a:lvl3pPr>
              <a:defRPr sz="2100" b="0">
                <a:solidFill>
                  <a:srgbClr val="183942"/>
                </a:solidFill>
                <a:latin typeface="Arial"/>
                <a:ea typeface="Arial"/>
                <a:cs typeface="Arial"/>
              </a:defRPr>
            </a:lvl3pPr>
            <a:lvl4pPr>
              <a:defRPr sz="2100" b="0">
                <a:solidFill>
                  <a:srgbClr val="183942"/>
                </a:solidFill>
                <a:latin typeface="Arial"/>
                <a:ea typeface="Arial"/>
                <a:cs typeface="Arial"/>
              </a:defRPr>
            </a:lvl4pPr>
            <a:lvl5pPr>
              <a:defRPr sz="2100" b="0">
                <a:solidFill>
                  <a:srgbClr val="183942"/>
                </a:solidFill>
                <a:latin typeface="Arial"/>
                <a:ea typeface="Arial"/>
                <a:cs typeface="Arial"/>
              </a:defRPr>
            </a:lvl5pPr>
            <a:lvl6pPr>
              <a:defRPr sz="2100" b="0">
                <a:solidFill>
                  <a:srgbClr val="183942"/>
                </a:solidFill>
                <a:latin typeface="Arial"/>
                <a:ea typeface="Arial"/>
                <a:cs typeface="Arial"/>
              </a:defRPr>
            </a:lvl6pPr>
            <a:lvl7pPr>
              <a:defRPr sz="2100" b="0">
                <a:solidFill>
                  <a:srgbClr val="183942"/>
                </a:solidFill>
                <a:latin typeface="Arial"/>
                <a:ea typeface="Arial"/>
                <a:cs typeface="Arial"/>
              </a:defRPr>
            </a:lvl7pPr>
            <a:lvl8pPr>
              <a:defRPr sz="2100" b="0">
                <a:solidFill>
                  <a:srgbClr val="183942"/>
                </a:solidFill>
                <a:latin typeface="Arial"/>
                <a:ea typeface="Arial"/>
                <a:cs typeface="Arial"/>
              </a:defRPr>
            </a:lvl8pPr>
            <a:lvl9pPr>
              <a:defRPr sz="2100" b="0">
                <a:solidFill>
                  <a:srgbClr val="183942"/>
                </a:solidFill>
                <a:latin typeface="Arial"/>
                <a:ea typeface="Arial"/>
                <a:cs typeface="Arial"/>
              </a:defRPr>
            </a:lvl9pPr>
          </a:lstStyle>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Bỏ sót: 56</a:t>
            </a:r>
          </a:p>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Cảnh báo nhầm: 74</a:t>
            </a:r>
          </a:p>
          <a:p xmlns:a="http://schemas.openxmlformats.org/drawingml/2006/main">
            <a:pPr>
              <a:defRPr sz="2100" b="0">
                <a:solidFill>
                  <a:srgbClr val="183942"/>
                </a:solidFill>
                <a:latin typeface="Arial"/>
                <a:ea typeface="Arial"/>
                <a:cs typeface="Arial"/>
              </a:defRPr>
            </a:pPr>
            <a:r>
              <a:rPr sz="2100" b="0">
                <a:solidFill>
                  <a:srgbClr val="183942"/>
                </a:solidFill>
                <a:latin typeface="Arial"/>
                <a:ea typeface="Arial"/>
                <a:cs typeface="Arial"/>
              </a:rPr>
              <a:t>Ngưỡng: 0,59</a:t>
            </a:r>
          </a:p>
        </p:txBody>
      </p:sp>
      <p:sp>
        <p:nvSpPr>
          <p:cNvPr id="7" name="">
            <a:extLst xmlns:a="http://schemas.openxmlformats.org/drawingml/2006/main">
              <a:ext uri="{FF2B5EF4-FFF2-40B4-BE49-F238E27FC236}">
                <a16:creationId xmlns:a16="http://schemas.microsoft.com/office/drawing/2014/main" id="{EF17D045-8950-446A-B255-45C77C4B1769}"/>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57078"/>
                </a:solidFill>
                <a:latin typeface="Arial"/>
                <a:ea typeface="Arial"/>
                <a:cs typeface="Arial"/>
              </a:defRPr>
            </a:defPPr>
            <a:lvl1pPr>
              <a:defRPr sz="1800" b="0">
                <a:solidFill>
                  <a:srgbClr val="557078"/>
                </a:solidFill>
                <a:latin typeface="Arial"/>
                <a:ea typeface="Arial"/>
                <a:cs typeface="Arial"/>
              </a:defRPr>
            </a:lvl1pPr>
            <a:lvl2pPr>
              <a:defRPr sz="1800" b="0">
                <a:solidFill>
                  <a:srgbClr val="557078"/>
                </a:solidFill>
                <a:latin typeface="Arial"/>
                <a:ea typeface="Arial"/>
                <a:cs typeface="Arial"/>
              </a:defRPr>
            </a:lvl2pPr>
            <a:lvl3pPr>
              <a:defRPr sz="1800" b="0">
                <a:solidFill>
                  <a:srgbClr val="557078"/>
                </a:solidFill>
                <a:latin typeface="Arial"/>
                <a:ea typeface="Arial"/>
                <a:cs typeface="Arial"/>
              </a:defRPr>
            </a:lvl3pPr>
            <a:lvl4pPr>
              <a:defRPr sz="1800" b="0">
                <a:solidFill>
                  <a:srgbClr val="557078"/>
                </a:solidFill>
                <a:latin typeface="Arial"/>
                <a:ea typeface="Arial"/>
                <a:cs typeface="Arial"/>
              </a:defRPr>
            </a:lvl4pPr>
            <a:lvl5pPr>
              <a:defRPr sz="1800" b="0">
                <a:solidFill>
                  <a:srgbClr val="557078"/>
                </a:solidFill>
                <a:latin typeface="Arial"/>
                <a:ea typeface="Arial"/>
                <a:cs typeface="Arial"/>
              </a:defRPr>
            </a:lvl5pPr>
            <a:lvl6pPr>
              <a:defRPr sz="1800" b="0">
                <a:solidFill>
                  <a:srgbClr val="557078"/>
                </a:solidFill>
                <a:latin typeface="Arial"/>
                <a:ea typeface="Arial"/>
                <a:cs typeface="Arial"/>
              </a:defRPr>
            </a:lvl6pPr>
            <a:lvl7pPr>
              <a:defRPr sz="1800" b="0">
                <a:solidFill>
                  <a:srgbClr val="557078"/>
                </a:solidFill>
                <a:latin typeface="Arial"/>
                <a:ea typeface="Arial"/>
                <a:cs typeface="Arial"/>
              </a:defRPr>
            </a:lvl7pPr>
            <a:lvl8pPr>
              <a:defRPr sz="1800" b="0">
                <a:solidFill>
                  <a:srgbClr val="557078"/>
                </a:solidFill>
                <a:latin typeface="Arial"/>
                <a:ea typeface="Arial"/>
                <a:cs typeface="Arial"/>
              </a:defRPr>
            </a:lvl8pPr>
            <a:lvl9pPr>
              <a:defRPr sz="1800" b="0">
                <a:solidFill>
                  <a:srgbClr val="557078"/>
                </a:solidFill>
                <a:latin typeface="Arial"/>
                <a:ea typeface="Arial"/>
                <a:cs typeface="Arial"/>
              </a:defRPr>
            </a:lvl9pPr>
          </a:lstStyle>
          <a:p xmlns:a="http://schemas.openxmlformats.org/drawingml/2006/main">
            <a:pPr>
              <a:defRPr sz="1800" b="0">
                <a:solidFill>
                  <a:srgbClr val="557078"/>
                </a:solidFill>
                <a:latin typeface="Arial"/>
                <a:ea typeface="Arial"/>
                <a:cs typeface="Arial"/>
              </a:defRPr>
            </a:pPr>
            <a:r>
              <a:rPr sz="1800" b="0">
                <a:solidFill>
                  <a:srgbClr val="557078"/>
                </a:solidFill>
                <a:latin typeface="Arial"/>
                <a:ea typeface="Arial"/>
                <a:cs typeface="Arial"/>
              </a:rPr>
              <a:t>ViCTSD là bình luận viết. Chưa đo F1 trên transcript video.</a:t>
            </a:r>
          </a:p>
        </p:txBody>
      </p:sp>
    </p:spTree>
    <p:extLst>
      <p:ext uri="{BB962C8B-B14F-4D97-AF65-F5344CB8AC3E}">
        <p14:creationId xmlns:p14="http://schemas.microsoft.com/office/powerpoint/2010/main" val="154151055"/>
      </p:ext>
    </p:extLst>
  </p:cSld>
</p:sld>
</file>

<file path=ppt/slides/slide7.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45BD6D-64A1-4B8C-9025-7F8936513B5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Pilot tiếng Việt đã sẵn sàng để gán nhãn</a:t>
            </a:r>
          </a:p>
        </p:txBody>
      </p:sp>
      <p:sp>
        <p:nvSpPr>
          <p:cNvPr id="2" name="">
            <a:extLst xmlns:a="http://schemas.openxmlformats.org/drawingml/2006/main">
              <a:ext uri="{FF2B5EF4-FFF2-40B4-BE49-F238E27FC236}">
                <a16:creationId xmlns:a16="http://schemas.microsoft.com/office/drawing/2014/main" id="{F1674C2E-20BC-461B-B8D2-0D0A73B3A0AE}"/>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DFC6AD4C-7908-41A5-A4EF-78D6DD65A893}"/>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7103564A-74AE-4436-BC35-139603351352}"/>
              </a:ext>
            </a:extLst>
          </p:cNvPr>
          <p:cNvSpPr>
            <a:spLocks xmlns:a="http://schemas.openxmlformats.org/drawingml/2006/main" noGrp="1"/>
          </p:cNvSpPr>
          <p:nvPr/>
        </p:nvSpPr>
        <p:spPr>
          <a:xfrm xmlns:a="http://schemas.openxmlformats.org/drawingml/2006/main">
            <a:off x="609600" y="1952625"/>
            <a:ext cx="5429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47D83"/>
                </a:solidFill>
                <a:latin typeface="Arial"/>
                <a:ea typeface="Arial"/>
                <a:cs typeface="Arial"/>
              </a:defRPr>
            </a:defPPr>
            <a:lvl1pPr>
              <a:defRPr sz="3600" b="1">
                <a:solidFill>
                  <a:srgbClr val="147D83"/>
                </a:solidFill>
                <a:latin typeface="Arial"/>
                <a:ea typeface="Arial"/>
                <a:cs typeface="Arial"/>
              </a:defRPr>
            </a:lvl1pPr>
            <a:lvl2pPr>
              <a:defRPr sz="3600" b="1">
                <a:solidFill>
                  <a:srgbClr val="147D83"/>
                </a:solidFill>
                <a:latin typeface="Arial"/>
                <a:ea typeface="Arial"/>
                <a:cs typeface="Arial"/>
              </a:defRPr>
            </a:lvl2pPr>
            <a:lvl3pPr>
              <a:defRPr sz="3600" b="1">
                <a:solidFill>
                  <a:srgbClr val="147D83"/>
                </a:solidFill>
                <a:latin typeface="Arial"/>
                <a:ea typeface="Arial"/>
                <a:cs typeface="Arial"/>
              </a:defRPr>
            </a:lvl3pPr>
            <a:lvl4pPr>
              <a:defRPr sz="3600" b="1">
                <a:solidFill>
                  <a:srgbClr val="147D83"/>
                </a:solidFill>
                <a:latin typeface="Arial"/>
                <a:ea typeface="Arial"/>
                <a:cs typeface="Arial"/>
              </a:defRPr>
            </a:lvl4pPr>
            <a:lvl5pPr>
              <a:defRPr sz="3600" b="1">
                <a:solidFill>
                  <a:srgbClr val="147D83"/>
                </a:solidFill>
                <a:latin typeface="Arial"/>
                <a:ea typeface="Arial"/>
                <a:cs typeface="Arial"/>
              </a:defRPr>
            </a:lvl5pPr>
            <a:lvl6pPr>
              <a:defRPr sz="3600" b="1">
                <a:solidFill>
                  <a:srgbClr val="147D83"/>
                </a:solidFill>
                <a:latin typeface="Arial"/>
                <a:ea typeface="Arial"/>
                <a:cs typeface="Arial"/>
              </a:defRPr>
            </a:lvl6pPr>
            <a:lvl7pPr>
              <a:defRPr sz="3600" b="1">
                <a:solidFill>
                  <a:srgbClr val="147D83"/>
                </a:solidFill>
                <a:latin typeface="Arial"/>
                <a:ea typeface="Arial"/>
                <a:cs typeface="Arial"/>
              </a:defRPr>
            </a:lvl7pPr>
            <a:lvl8pPr>
              <a:defRPr sz="3600" b="1">
                <a:solidFill>
                  <a:srgbClr val="147D83"/>
                </a:solidFill>
                <a:latin typeface="Arial"/>
                <a:ea typeface="Arial"/>
                <a:cs typeface="Arial"/>
              </a:defRPr>
            </a:lvl8pPr>
            <a:lvl9pPr>
              <a:defRPr sz="3600" b="1">
                <a:solidFill>
                  <a:srgbClr val="147D83"/>
                </a:solidFill>
                <a:latin typeface="Arial"/>
                <a:ea typeface="Arial"/>
                <a:cs typeface="Arial"/>
              </a:defRPr>
            </a:lvl9pPr>
          </a:lstStyle>
          <a:p xmlns:a="http://schemas.openxmlformats.org/drawingml/2006/main">
            <a:pPr>
              <a:defRPr sz="3600" b="1">
                <a:solidFill>
                  <a:srgbClr val="147D83"/>
                </a:solidFill>
                <a:latin typeface="Arial"/>
                <a:ea typeface="Arial"/>
                <a:cs typeface="Arial"/>
              </a:defRPr>
            </a:pPr>
            <a:r>
              <a:rPr sz="3600" b="1">
                <a:solidFill>
                  <a:srgbClr val="147D83"/>
                </a:solidFill>
                <a:latin typeface="Arial"/>
                <a:ea typeface="Arial"/>
                <a:cs typeface="Arial"/>
              </a:rPr>
              <a:t>625 frame</a:t>
            </a:r>
          </a:p>
          <a:p xmlns:a="http://schemas.openxmlformats.org/drawingml/2006/main">
            <a:pPr>
              <a:defRPr sz="3600" b="1">
                <a:solidFill>
                  <a:srgbClr val="147D83"/>
                </a:solidFill>
                <a:latin typeface="Arial"/>
                <a:ea typeface="Arial"/>
                <a:cs typeface="Arial"/>
              </a:defRPr>
            </a:pPr>
            <a:r>
              <a:rPr sz="3600" b="1">
                <a:solidFill>
                  <a:srgbClr val="147D83"/>
                </a:solidFill>
                <a:latin typeface="Arial"/>
                <a:ea typeface="Arial"/>
                <a:cs typeface="Arial"/>
              </a:rPr>
              <a:t>58 đoạn ASR</a:t>
            </a:r>
          </a:p>
        </p:txBody>
      </p:sp>
      <p:sp>
        <p:nvSpPr>
          <p:cNvPr id="5" name="">
            <a:extLst xmlns:a="http://schemas.openxmlformats.org/drawingml/2006/main">
              <a:ext uri="{FF2B5EF4-FFF2-40B4-BE49-F238E27FC236}">
                <a16:creationId xmlns:a16="http://schemas.microsoft.com/office/drawing/2014/main" id="{852ADEEE-009B-498D-9EE8-455FD6CD07B3}"/>
              </a:ext>
            </a:extLst>
          </p:cNvPr>
          <p:cNvSpPr>
            <a:spLocks xmlns:a="http://schemas.openxmlformats.org/drawingml/2006/main" noGrp="1"/>
          </p:cNvSpPr>
          <p:nvPr/>
        </p:nvSpPr>
        <p:spPr>
          <a:xfrm xmlns:a="http://schemas.openxmlformats.org/drawingml/2006/main">
            <a:off x="609600" y="3743325"/>
            <a:ext cx="5381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25 đoạn, mỗi đoạn 25 giây</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8 video gốc, 5 nhóm</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Nguồn CC BY 3.0 có ghi công</a:t>
            </a:r>
          </a:p>
        </p:txBody>
      </p:sp>
      <p:sp>
        <p:nvSpPr>
          <p:cNvPr id="6" name="">
            <a:extLst xmlns:a="http://schemas.openxmlformats.org/drawingml/2006/main">
              <a:ext uri="{FF2B5EF4-FFF2-40B4-BE49-F238E27FC236}">
                <a16:creationId xmlns:a16="http://schemas.microsoft.com/office/drawing/2014/main" id="{BFF6CEFA-5D09-4355-8ECC-B76DE8A24751}"/>
              </a:ext>
            </a:extLst>
          </p:cNvPr>
          <p:cNvSpPr>
            <a:spLocks xmlns:a="http://schemas.openxmlformats.org/drawingml/2006/main" noGrp="1"/>
          </p:cNvSpPr>
          <p:nvPr/>
        </p:nvSpPr>
        <p:spPr>
          <a:xfrm xmlns:a="http://schemas.openxmlformats.org/drawingml/2006/main">
            <a:off x="6667500" y="19526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942"/>
                </a:solidFill>
                <a:latin typeface="Arial"/>
                <a:ea typeface="Arial"/>
                <a:cs typeface="Arial"/>
              </a:defRPr>
            </a:defPPr>
            <a:lvl1pPr>
              <a:defRPr sz="2400" b="1">
                <a:solidFill>
                  <a:srgbClr val="183942"/>
                </a:solidFill>
                <a:latin typeface="Arial"/>
                <a:ea typeface="Arial"/>
                <a:cs typeface="Arial"/>
              </a:defRPr>
            </a:lvl1pPr>
            <a:lvl2pPr>
              <a:defRPr sz="2400" b="1">
                <a:solidFill>
                  <a:srgbClr val="183942"/>
                </a:solidFill>
                <a:latin typeface="Arial"/>
                <a:ea typeface="Arial"/>
                <a:cs typeface="Arial"/>
              </a:defRPr>
            </a:lvl2pPr>
            <a:lvl3pPr>
              <a:defRPr sz="2400" b="1">
                <a:solidFill>
                  <a:srgbClr val="183942"/>
                </a:solidFill>
                <a:latin typeface="Arial"/>
                <a:ea typeface="Arial"/>
                <a:cs typeface="Arial"/>
              </a:defRPr>
            </a:lvl3pPr>
            <a:lvl4pPr>
              <a:defRPr sz="2400" b="1">
                <a:solidFill>
                  <a:srgbClr val="183942"/>
                </a:solidFill>
                <a:latin typeface="Arial"/>
                <a:ea typeface="Arial"/>
                <a:cs typeface="Arial"/>
              </a:defRPr>
            </a:lvl4pPr>
            <a:lvl5pPr>
              <a:defRPr sz="2400" b="1">
                <a:solidFill>
                  <a:srgbClr val="183942"/>
                </a:solidFill>
                <a:latin typeface="Arial"/>
                <a:ea typeface="Arial"/>
                <a:cs typeface="Arial"/>
              </a:defRPr>
            </a:lvl5pPr>
            <a:lvl6pPr>
              <a:defRPr sz="2400" b="1">
                <a:solidFill>
                  <a:srgbClr val="183942"/>
                </a:solidFill>
                <a:latin typeface="Arial"/>
                <a:ea typeface="Arial"/>
                <a:cs typeface="Arial"/>
              </a:defRPr>
            </a:lvl6pPr>
            <a:lvl7pPr>
              <a:defRPr sz="2400" b="1">
                <a:solidFill>
                  <a:srgbClr val="183942"/>
                </a:solidFill>
                <a:latin typeface="Arial"/>
                <a:ea typeface="Arial"/>
                <a:cs typeface="Arial"/>
              </a:defRPr>
            </a:lvl7pPr>
            <a:lvl8pPr>
              <a:defRPr sz="2400" b="1">
                <a:solidFill>
                  <a:srgbClr val="183942"/>
                </a:solidFill>
                <a:latin typeface="Arial"/>
                <a:ea typeface="Arial"/>
                <a:cs typeface="Arial"/>
              </a:defRPr>
            </a:lvl8pPr>
            <a:lvl9pPr>
              <a:defRPr sz="2400" b="1">
                <a:solidFill>
                  <a:srgbClr val="183942"/>
                </a:solidFill>
                <a:latin typeface="Arial"/>
                <a:ea typeface="Arial"/>
                <a:cs typeface="Arial"/>
              </a:defRPr>
            </a:lvl9pPr>
          </a:lstStyle>
          <a:p xmlns:a="http://schemas.openxmlformats.org/drawingml/2006/main">
            <a:pPr>
              <a:defRPr sz="2400" b="1">
                <a:solidFill>
                  <a:srgbClr val="183942"/>
                </a:solidFill>
                <a:latin typeface="Arial"/>
                <a:ea typeface="Arial"/>
                <a:cs typeface="Arial"/>
              </a:defRPr>
            </a:pPr>
            <a:r>
              <a:rPr sz="2400" b="1">
                <a:solidFill>
                  <a:srgbClr val="183942"/>
                </a:solidFill>
                <a:latin typeface="Arial"/>
                <a:ea typeface="Arial"/>
                <a:cs typeface="Arial"/>
              </a:rPr>
              <a:t>Nhãn người thật</a:t>
            </a:r>
          </a:p>
        </p:txBody>
      </p:sp>
      <p:sp>
        <p:nvSpPr>
          <p:cNvPr id="7" name="">
            <a:extLst xmlns:a="http://schemas.openxmlformats.org/drawingml/2006/main">
              <a:ext uri="{FF2B5EF4-FFF2-40B4-BE49-F238E27FC236}">
                <a16:creationId xmlns:a16="http://schemas.microsoft.com/office/drawing/2014/main" id="{956F314F-CB38-4EE7-868A-4FCE267DF60F}"/>
              </a:ext>
            </a:extLst>
          </p:cNvPr>
          <p:cNvSpPr>
            <a:spLocks xmlns:a="http://schemas.openxmlformats.org/drawingml/2006/main" noGrp="1"/>
          </p:cNvSpPr>
          <p:nvPr/>
        </p:nvSpPr>
        <p:spPr>
          <a:xfrm xmlns:a="http://schemas.openxmlformats.org/drawingml/2006/main">
            <a:off x="6667500" y="2857500"/>
            <a:ext cx="4857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942"/>
                </a:solidFill>
                <a:latin typeface="Arial"/>
                <a:ea typeface="Arial"/>
                <a:cs typeface="Arial"/>
              </a:defRPr>
            </a:defPPr>
            <a:lvl1pPr>
              <a:defRPr sz="2250" b="0">
                <a:solidFill>
                  <a:srgbClr val="183942"/>
                </a:solidFill>
                <a:latin typeface="Arial"/>
                <a:ea typeface="Arial"/>
                <a:cs typeface="Arial"/>
              </a:defRPr>
            </a:lvl1pPr>
            <a:lvl2pPr>
              <a:defRPr sz="2250" b="0">
                <a:solidFill>
                  <a:srgbClr val="183942"/>
                </a:solidFill>
                <a:latin typeface="Arial"/>
                <a:ea typeface="Arial"/>
                <a:cs typeface="Arial"/>
              </a:defRPr>
            </a:lvl2pPr>
            <a:lvl3pPr>
              <a:defRPr sz="2250" b="0">
                <a:solidFill>
                  <a:srgbClr val="183942"/>
                </a:solidFill>
                <a:latin typeface="Arial"/>
                <a:ea typeface="Arial"/>
                <a:cs typeface="Arial"/>
              </a:defRPr>
            </a:lvl3pPr>
            <a:lvl4pPr>
              <a:defRPr sz="2250" b="0">
                <a:solidFill>
                  <a:srgbClr val="183942"/>
                </a:solidFill>
                <a:latin typeface="Arial"/>
                <a:ea typeface="Arial"/>
                <a:cs typeface="Arial"/>
              </a:defRPr>
            </a:lvl4pPr>
            <a:lvl5pPr>
              <a:defRPr sz="2250" b="0">
                <a:solidFill>
                  <a:srgbClr val="183942"/>
                </a:solidFill>
                <a:latin typeface="Arial"/>
                <a:ea typeface="Arial"/>
                <a:cs typeface="Arial"/>
              </a:defRPr>
            </a:lvl5pPr>
            <a:lvl6pPr>
              <a:defRPr sz="2250" b="0">
                <a:solidFill>
                  <a:srgbClr val="183942"/>
                </a:solidFill>
                <a:latin typeface="Arial"/>
                <a:ea typeface="Arial"/>
                <a:cs typeface="Arial"/>
              </a:defRPr>
            </a:lvl6pPr>
            <a:lvl7pPr>
              <a:defRPr sz="2250" b="0">
                <a:solidFill>
                  <a:srgbClr val="183942"/>
                </a:solidFill>
                <a:latin typeface="Arial"/>
                <a:ea typeface="Arial"/>
                <a:cs typeface="Arial"/>
              </a:defRPr>
            </a:lvl7pPr>
            <a:lvl8pPr>
              <a:defRPr sz="2250" b="0">
                <a:solidFill>
                  <a:srgbClr val="183942"/>
                </a:solidFill>
                <a:latin typeface="Arial"/>
                <a:ea typeface="Arial"/>
                <a:cs typeface="Arial"/>
              </a:defRPr>
            </a:lvl8pPr>
            <a:lvl9pPr>
              <a:defRPr sz="2250" b="0">
                <a:solidFill>
                  <a:srgbClr val="183942"/>
                </a:solidFill>
                <a:latin typeface="Arial"/>
                <a:ea typeface="Arial"/>
                <a:cs typeface="Arial"/>
              </a:defRPr>
            </a:lvl9pPr>
          </a:lstStyle>
          <a:p xmlns:a="http://schemas.openxmlformats.org/drawingml/2006/main">
            <a:pPr>
              <a:defRPr sz="2250" b="0">
                <a:solidFill>
                  <a:srgbClr val="183942"/>
                </a:solidFill>
                <a:latin typeface="Arial"/>
                <a:ea typeface="Arial"/>
                <a:cs typeface="Arial"/>
              </a:defRPr>
            </a:pPr>
            <a:r>
              <a:rPr sz="2250" b="0">
                <a:solidFill>
                  <a:srgbClr val="183942"/>
                </a:solidFill>
                <a:latin typeface="Arial"/>
                <a:ea typeface="Arial"/>
                <a:cs typeface="Arial"/>
              </a:rPr>
              <a:t>Huy: 0/25 phiếu hoàn tất</a:t>
            </a:r>
          </a:p>
          <a:p xmlns:a="http://schemas.openxmlformats.org/drawingml/2006/main">
            <a:pPr>
              <a:defRPr sz="2250" b="0">
                <a:solidFill>
                  <a:srgbClr val="183942"/>
                </a:solidFill>
                <a:latin typeface="Arial"/>
                <a:ea typeface="Arial"/>
                <a:cs typeface="Arial"/>
              </a:defRPr>
            </a:pPr>
            <a:r>
              <a:rPr sz="2250" b="0">
                <a:solidFill>
                  <a:srgbClr val="183942"/>
                </a:solidFill>
                <a:latin typeface="Arial"/>
                <a:ea typeface="Arial"/>
                <a:cs typeface="Arial"/>
              </a:rPr>
              <a:t>Thành viên app: 0/6</a:t>
            </a:r>
          </a:p>
          <a:p xmlns:a="http://schemas.openxmlformats.org/drawingml/2006/main">
            <a:pPr>
              <a:defRPr sz="2250" b="0">
                <a:solidFill>
                  <a:srgbClr val="183942"/>
                </a:solidFill>
                <a:latin typeface="Arial"/>
                <a:ea typeface="Arial"/>
                <a:cs typeface="Arial"/>
              </a:defRPr>
            </a:pPr>
            <a:r>
              <a:rPr sz="2250" b="0">
                <a:solidFill>
                  <a:srgbClr val="183942"/>
                </a:solidFill>
                <a:latin typeface="Arial"/>
                <a:ea typeface="Arial"/>
                <a:cs typeface="Arial"/>
              </a:rPr>
              <a:t>Chưa tính metric pilot</a:t>
            </a:r>
          </a:p>
        </p:txBody>
      </p:sp>
      <p:sp>
        <p:nvSpPr>
          <p:cNvPr id="8" name="">
            <a:extLst xmlns:a="http://schemas.openxmlformats.org/drawingml/2006/main">
              <a:ext uri="{FF2B5EF4-FFF2-40B4-BE49-F238E27FC236}">
                <a16:creationId xmlns:a16="http://schemas.microsoft.com/office/drawing/2014/main" id="{C04D1CB4-F61C-4EEF-B28F-E2ADF5837DC8}"/>
              </a:ext>
            </a:extLst>
          </p:cNvPr>
          <p:cNvSpPr>
            <a:spLocks xmlns:a="http://schemas.openxmlformats.org/drawingml/2006/main" noGrp="1"/>
          </p:cNvSpPr>
          <p:nvPr/>
        </p:nvSpPr>
        <p:spPr>
          <a:xfrm xmlns:a="http://schemas.openxmlformats.org/drawingml/2006/main">
            <a:off x="609600" y="5667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57078"/>
                </a:solidFill>
                <a:latin typeface="Arial"/>
                <a:ea typeface="Arial"/>
                <a:cs typeface="Arial"/>
              </a:defRPr>
            </a:defPPr>
            <a:lvl1pPr>
              <a:defRPr sz="1950" b="0">
                <a:solidFill>
                  <a:srgbClr val="557078"/>
                </a:solidFill>
                <a:latin typeface="Arial"/>
                <a:ea typeface="Arial"/>
                <a:cs typeface="Arial"/>
              </a:defRPr>
            </a:lvl1pPr>
            <a:lvl2pPr>
              <a:defRPr sz="1950" b="0">
                <a:solidFill>
                  <a:srgbClr val="557078"/>
                </a:solidFill>
                <a:latin typeface="Arial"/>
                <a:ea typeface="Arial"/>
                <a:cs typeface="Arial"/>
              </a:defRPr>
            </a:lvl2pPr>
            <a:lvl3pPr>
              <a:defRPr sz="1950" b="0">
                <a:solidFill>
                  <a:srgbClr val="557078"/>
                </a:solidFill>
                <a:latin typeface="Arial"/>
                <a:ea typeface="Arial"/>
                <a:cs typeface="Arial"/>
              </a:defRPr>
            </a:lvl3pPr>
            <a:lvl4pPr>
              <a:defRPr sz="1950" b="0">
                <a:solidFill>
                  <a:srgbClr val="557078"/>
                </a:solidFill>
                <a:latin typeface="Arial"/>
                <a:ea typeface="Arial"/>
                <a:cs typeface="Arial"/>
              </a:defRPr>
            </a:lvl4pPr>
            <a:lvl5pPr>
              <a:defRPr sz="1950" b="0">
                <a:solidFill>
                  <a:srgbClr val="557078"/>
                </a:solidFill>
                <a:latin typeface="Arial"/>
                <a:ea typeface="Arial"/>
                <a:cs typeface="Arial"/>
              </a:defRPr>
            </a:lvl5pPr>
            <a:lvl6pPr>
              <a:defRPr sz="1950" b="0">
                <a:solidFill>
                  <a:srgbClr val="557078"/>
                </a:solidFill>
                <a:latin typeface="Arial"/>
                <a:ea typeface="Arial"/>
                <a:cs typeface="Arial"/>
              </a:defRPr>
            </a:lvl6pPr>
            <a:lvl7pPr>
              <a:defRPr sz="1950" b="0">
                <a:solidFill>
                  <a:srgbClr val="557078"/>
                </a:solidFill>
                <a:latin typeface="Arial"/>
                <a:ea typeface="Arial"/>
                <a:cs typeface="Arial"/>
              </a:defRPr>
            </a:lvl7pPr>
            <a:lvl8pPr>
              <a:defRPr sz="1950" b="0">
                <a:solidFill>
                  <a:srgbClr val="557078"/>
                </a:solidFill>
                <a:latin typeface="Arial"/>
                <a:ea typeface="Arial"/>
                <a:cs typeface="Arial"/>
              </a:defRPr>
            </a:lvl8pPr>
            <a:lvl9pPr>
              <a:defRPr sz="1950" b="0">
                <a:solidFill>
                  <a:srgbClr val="557078"/>
                </a:solidFill>
                <a:latin typeface="Arial"/>
                <a:ea typeface="Arial"/>
                <a:cs typeface="Arial"/>
              </a:defRPr>
            </a:lvl9pPr>
          </a:lstStyle>
          <a:p xmlns:a="http://schemas.openxmlformats.org/drawingml/2006/main">
            <a:pPr>
              <a:defRPr sz="1950" b="0">
                <a:solidFill>
                  <a:srgbClr val="557078"/>
                </a:solidFill>
                <a:latin typeface="Arial"/>
                <a:ea typeface="Arial"/>
                <a:cs typeface="Arial"/>
              </a:defRPr>
            </a:pPr>
            <a:r>
              <a:rPr sz="1950" b="0">
                <a:solidFill>
                  <a:srgbClr val="557078"/>
                </a:solidFill>
                <a:latin typeface="Arial"/>
                <a:ea typeface="Arial"/>
                <a:cs typeface="Arial"/>
              </a:rPr>
              <a:t>Tập thiên về nội dung thông tin. Chưa xác nhận đủ ca nguy hại.</a:t>
            </a:r>
          </a:p>
        </p:txBody>
      </p:sp>
    </p:spTree>
    <p:extLst>
      <p:ext uri="{BB962C8B-B14F-4D97-AF65-F5344CB8AC3E}">
        <p14:creationId xmlns:p14="http://schemas.microsoft.com/office/powerpoint/2010/main" val="1101675212"/>
      </p:ext>
    </p:extLst>
  </p:cSld>
</p:sld>
</file>

<file path=ppt/slides/slide8.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F8026B-F241-45D4-BF7D-0F10C7B6582D}"/>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Quy trình đánh giá sau khi có nhãn</a:t>
            </a:r>
          </a:p>
        </p:txBody>
      </p:sp>
      <p:sp>
        <p:nvSpPr>
          <p:cNvPr id="2" name="">
            <a:extLst xmlns:a="http://schemas.openxmlformats.org/drawingml/2006/main">
              <a:ext uri="{FF2B5EF4-FFF2-40B4-BE49-F238E27FC236}">
                <a16:creationId xmlns:a16="http://schemas.microsoft.com/office/drawing/2014/main" id="{56FBED19-3B8D-41A8-8549-827BAD5FE6B0}"/>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7980622-A990-4C3B-B172-96297DEEE4F4}"/>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B68CBCA-47CC-4741-B4E4-ACC8777D9E16}"/>
              </a:ext>
            </a:extLst>
          </p:cNvPr>
          <p:cNvSpPr>
            <a:spLocks xmlns:a="http://schemas.openxmlformats.org/drawingml/2006/main" noGrp="1"/>
          </p:cNvSpPr>
          <p:nvPr/>
        </p:nvSpPr>
        <p:spPr>
          <a:xfrm xmlns:a="http://schemas.openxmlformats.org/drawingml/2006/main">
            <a:off x="609600" y="1952625"/>
            <a:ext cx="10953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942"/>
                </a:solidFill>
                <a:latin typeface="Arial"/>
                <a:ea typeface="Arial"/>
                <a:cs typeface="Arial"/>
              </a:defRPr>
            </a:defPPr>
            <a:lvl1pPr>
              <a:defRPr sz="2550" b="1">
                <a:solidFill>
                  <a:srgbClr val="183942"/>
                </a:solidFill>
                <a:latin typeface="Arial"/>
                <a:ea typeface="Arial"/>
                <a:cs typeface="Arial"/>
              </a:defRPr>
            </a:lvl1pPr>
            <a:lvl2pPr>
              <a:defRPr sz="2550" b="1">
                <a:solidFill>
                  <a:srgbClr val="183942"/>
                </a:solidFill>
                <a:latin typeface="Arial"/>
                <a:ea typeface="Arial"/>
                <a:cs typeface="Arial"/>
              </a:defRPr>
            </a:lvl2pPr>
            <a:lvl3pPr>
              <a:defRPr sz="2550" b="1">
                <a:solidFill>
                  <a:srgbClr val="183942"/>
                </a:solidFill>
                <a:latin typeface="Arial"/>
                <a:ea typeface="Arial"/>
                <a:cs typeface="Arial"/>
              </a:defRPr>
            </a:lvl3pPr>
            <a:lvl4pPr>
              <a:defRPr sz="2550" b="1">
                <a:solidFill>
                  <a:srgbClr val="183942"/>
                </a:solidFill>
                <a:latin typeface="Arial"/>
                <a:ea typeface="Arial"/>
                <a:cs typeface="Arial"/>
              </a:defRPr>
            </a:lvl4pPr>
            <a:lvl5pPr>
              <a:defRPr sz="2550" b="1">
                <a:solidFill>
                  <a:srgbClr val="183942"/>
                </a:solidFill>
                <a:latin typeface="Arial"/>
                <a:ea typeface="Arial"/>
                <a:cs typeface="Arial"/>
              </a:defRPr>
            </a:lvl5pPr>
            <a:lvl6pPr>
              <a:defRPr sz="2550" b="1">
                <a:solidFill>
                  <a:srgbClr val="183942"/>
                </a:solidFill>
                <a:latin typeface="Arial"/>
                <a:ea typeface="Arial"/>
                <a:cs typeface="Arial"/>
              </a:defRPr>
            </a:lvl6pPr>
            <a:lvl7pPr>
              <a:defRPr sz="2550" b="1">
                <a:solidFill>
                  <a:srgbClr val="183942"/>
                </a:solidFill>
                <a:latin typeface="Arial"/>
                <a:ea typeface="Arial"/>
                <a:cs typeface="Arial"/>
              </a:defRPr>
            </a:lvl7pPr>
            <a:lvl8pPr>
              <a:defRPr sz="2550" b="1">
                <a:solidFill>
                  <a:srgbClr val="183942"/>
                </a:solidFill>
                <a:latin typeface="Arial"/>
                <a:ea typeface="Arial"/>
                <a:cs typeface="Arial"/>
              </a:defRPr>
            </a:lvl8pPr>
            <a:lvl9pPr>
              <a:defRPr sz="2550" b="1">
                <a:solidFill>
                  <a:srgbClr val="183942"/>
                </a:solidFill>
                <a:latin typeface="Arial"/>
                <a:ea typeface="Arial"/>
                <a:cs typeface="Arial"/>
              </a:defRPr>
            </a:lvl9pPr>
          </a:lstStyle>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01   So phiếu và phân xử bất đồng</a:t>
            </a:r>
          </a:p>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02   Khóa gold, artifact, media và code</a:t>
            </a:r>
          </a:p>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03   Đánh giá một lần trên test giữ riêng</a:t>
            </a:r>
          </a:p>
        </p:txBody>
      </p:sp>
      <p:sp>
        <p:nvSpPr>
          <p:cNvPr id="5" name="">
            <a:extLst xmlns:a="http://schemas.openxmlformats.org/drawingml/2006/main">
              <a:ext uri="{FF2B5EF4-FFF2-40B4-BE49-F238E27FC236}">
                <a16:creationId xmlns:a16="http://schemas.microsoft.com/office/drawing/2014/main" id="{98F66D98-9B98-4BA4-98D5-8CC16729EA3A}"/>
              </a:ext>
            </a:extLst>
          </p:cNvPr>
          <p:cNvSpPr>
            <a:spLocks xmlns:a="http://schemas.openxmlformats.org/drawingml/2006/main" noGrp="1"/>
          </p:cNvSpPr>
          <p:nvPr/>
        </p:nvSpPr>
        <p:spPr>
          <a:xfrm xmlns:a="http://schemas.openxmlformats.org/drawingml/2006/main">
            <a:off x="609600" y="442912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Báo support, coverage và số abstain</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So visual-only / text-only / OR trên cùng cohort</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Score null không chuyển thành nhãn âm</a:t>
            </a:r>
          </a:p>
        </p:txBody>
      </p:sp>
    </p:spTree>
    <p:extLst>
      <p:ext uri="{BB962C8B-B14F-4D97-AF65-F5344CB8AC3E}">
        <p14:creationId xmlns:p14="http://schemas.microsoft.com/office/powerpoint/2010/main" val="1102114577"/>
      </p:ext>
    </p:extLst>
  </p:cSld>
</p:sld>
</file>

<file path=ppt/slides/slide9.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CB18F2-0BB2-4AD3-B434-B99A8A2D0C9C}"/>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Bản tích hợp chạy với model thật</a:t>
            </a:r>
          </a:p>
        </p:txBody>
      </p:sp>
      <p:sp>
        <p:nvSpPr>
          <p:cNvPr id="2" name="">
            <a:extLst xmlns:a="http://schemas.openxmlformats.org/drawingml/2006/main">
              <a:ext uri="{FF2B5EF4-FFF2-40B4-BE49-F238E27FC236}">
                <a16:creationId xmlns:a16="http://schemas.microsoft.com/office/drawing/2014/main" id="{9F4955BD-BDD4-4792-8F18-ACE769D454FF}"/>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DF437914-EE04-4C5D-B0C6-24E3CDB72932}"/>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20B2CC8-3AFF-44E4-BC35-E8883F6209DE}"/>
              </a:ext>
            </a:extLst>
          </p:cNvPr>
          <p:cNvSpPr>
            <a:spLocks xmlns:a="http://schemas.openxmlformats.org/drawingml/2006/main" noGrp="1"/>
          </p:cNvSpPr>
          <p:nvPr/>
        </p:nvSpPr>
        <p:spPr>
          <a:xfrm xmlns:a="http://schemas.openxmlformats.org/drawingml/2006/main">
            <a:off x="609600" y="1905000"/>
            <a:ext cx="5905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47D83"/>
                </a:solidFill>
                <a:latin typeface="Arial"/>
                <a:ea typeface="Arial"/>
                <a:cs typeface="Arial"/>
              </a:defRPr>
            </a:defPPr>
            <a:lvl1pPr>
              <a:defRPr sz="3525" b="1">
                <a:solidFill>
                  <a:srgbClr val="147D83"/>
                </a:solidFill>
                <a:latin typeface="Arial"/>
                <a:ea typeface="Arial"/>
                <a:cs typeface="Arial"/>
              </a:defRPr>
            </a:lvl1pPr>
            <a:lvl2pPr>
              <a:defRPr sz="3525" b="1">
                <a:solidFill>
                  <a:srgbClr val="147D83"/>
                </a:solidFill>
                <a:latin typeface="Arial"/>
                <a:ea typeface="Arial"/>
                <a:cs typeface="Arial"/>
              </a:defRPr>
            </a:lvl2pPr>
            <a:lvl3pPr>
              <a:defRPr sz="3525" b="1">
                <a:solidFill>
                  <a:srgbClr val="147D83"/>
                </a:solidFill>
                <a:latin typeface="Arial"/>
                <a:ea typeface="Arial"/>
                <a:cs typeface="Arial"/>
              </a:defRPr>
            </a:lvl3pPr>
            <a:lvl4pPr>
              <a:defRPr sz="3525" b="1">
                <a:solidFill>
                  <a:srgbClr val="147D83"/>
                </a:solidFill>
                <a:latin typeface="Arial"/>
                <a:ea typeface="Arial"/>
                <a:cs typeface="Arial"/>
              </a:defRPr>
            </a:lvl4pPr>
            <a:lvl5pPr>
              <a:defRPr sz="3525" b="1">
                <a:solidFill>
                  <a:srgbClr val="147D83"/>
                </a:solidFill>
                <a:latin typeface="Arial"/>
                <a:ea typeface="Arial"/>
                <a:cs typeface="Arial"/>
              </a:defRPr>
            </a:lvl5pPr>
            <a:lvl6pPr>
              <a:defRPr sz="3525" b="1">
                <a:solidFill>
                  <a:srgbClr val="147D83"/>
                </a:solidFill>
                <a:latin typeface="Arial"/>
                <a:ea typeface="Arial"/>
                <a:cs typeface="Arial"/>
              </a:defRPr>
            </a:lvl6pPr>
            <a:lvl7pPr>
              <a:defRPr sz="3525" b="1">
                <a:solidFill>
                  <a:srgbClr val="147D83"/>
                </a:solidFill>
                <a:latin typeface="Arial"/>
                <a:ea typeface="Arial"/>
                <a:cs typeface="Arial"/>
              </a:defRPr>
            </a:lvl7pPr>
            <a:lvl8pPr>
              <a:defRPr sz="3525" b="1">
                <a:solidFill>
                  <a:srgbClr val="147D83"/>
                </a:solidFill>
                <a:latin typeface="Arial"/>
                <a:ea typeface="Arial"/>
                <a:cs typeface="Arial"/>
              </a:defRPr>
            </a:lvl8pPr>
            <a:lvl9pPr>
              <a:defRPr sz="3525" b="1">
                <a:solidFill>
                  <a:srgbClr val="147D83"/>
                </a:solidFill>
                <a:latin typeface="Arial"/>
                <a:ea typeface="Arial"/>
                <a:cs typeface="Arial"/>
              </a:defRPr>
            </a:lvl9pPr>
          </a:lstStyle>
          <a:p xmlns:a="http://schemas.openxmlformats.org/drawingml/2006/main">
            <a:pPr>
              <a:defRPr sz="3525" b="1">
                <a:solidFill>
                  <a:srgbClr val="147D83"/>
                </a:solidFill>
                <a:latin typeface="Arial"/>
                <a:ea typeface="Arial"/>
                <a:cs typeface="Arial"/>
              </a:defRPr>
            </a:pPr>
            <a:r>
              <a:rPr sz="3525" b="1">
                <a:solidFill>
                  <a:srgbClr val="147D83"/>
                </a:solidFill>
                <a:latin typeface="Arial"/>
                <a:ea typeface="Arial"/>
                <a:cs typeface="Arial"/>
              </a:rPr>
              <a:t>117 tests pass</a:t>
            </a:r>
          </a:p>
          <a:p xmlns:a="http://schemas.openxmlformats.org/drawingml/2006/main">
            <a:pPr>
              <a:defRPr sz="3525" b="1">
                <a:solidFill>
                  <a:srgbClr val="147D83"/>
                </a:solidFill>
                <a:latin typeface="Arial"/>
                <a:ea typeface="Arial"/>
                <a:cs typeface="Arial"/>
              </a:defRPr>
            </a:pPr>
            <a:r>
              <a:rPr sz="3525" b="1">
                <a:solidFill>
                  <a:srgbClr val="147D83"/>
                </a:solidFill>
                <a:latin typeface="Arial"/>
                <a:ea typeface="Arial"/>
                <a:cs typeface="Arial"/>
              </a:rPr>
              <a:t>13/13 ca HTTP pass</a:t>
            </a:r>
          </a:p>
        </p:txBody>
      </p:sp>
      <p:sp>
        <p:nvSpPr>
          <p:cNvPr id="5" name="">
            <a:extLst xmlns:a="http://schemas.openxmlformats.org/drawingml/2006/main">
              <a:ext uri="{FF2B5EF4-FFF2-40B4-BE49-F238E27FC236}">
                <a16:creationId xmlns:a16="http://schemas.microsoft.com/office/drawing/2014/main" id="{80F1767E-6D8B-4EFC-AE5A-E2B9A407E00D}"/>
              </a:ext>
            </a:extLst>
          </p:cNvPr>
          <p:cNvSpPr>
            <a:spLocks xmlns:a="http://schemas.openxmlformats.org/drawingml/2006/main" noGrp="1"/>
          </p:cNvSpPr>
          <p:nvPr/>
        </p:nvSpPr>
        <p:spPr>
          <a:xfrm xmlns:a="http://schemas.openxmlformats.org/drawingml/2006/main">
            <a:off x="609600" y="3810000"/>
            <a:ext cx="638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5 clip train thật qua worker/model</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Có kiểm tra file rỗng, hỏng, dài</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Không tiếng giữ Toxic = null</a:t>
            </a:r>
          </a:p>
        </p:txBody>
      </p:sp>
      <p:sp>
        <p:nvSpPr>
          <p:cNvPr id="6" name="">
            <a:extLst xmlns:a="http://schemas.openxmlformats.org/drawingml/2006/main">
              <a:ext uri="{FF2B5EF4-FFF2-40B4-BE49-F238E27FC236}">
                <a16:creationId xmlns:a16="http://schemas.microsoft.com/office/drawing/2014/main" id="{D1ECCD30-D0C9-4924-A702-17C646DA3C87}"/>
              </a:ext>
            </a:extLst>
          </p:cNvPr>
          <p:cNvSpPr>
            <a:spLocks xmlns:a="http://schemas.openxmlformats.org/drawingml/2006/main" noGrp="1"/>
          </p:cNvSpPr>
          <p:nvPr/>
        </p:nvSpPr>
        <p:spPr>
          <a:xfrm xmlns:a="http://schemas.openxmlformats.org/drawingml/2006/main">
            <a:off x="8096250" y="195262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942"/>
                </a:solidFill>
                <a:latin typeface="Arial"/>
                <a:ea typeface="Arial"/>
                <a:cs typeface="Arial"/>
              </a:defRPr>
            </a:defPPr>
            <a:lvl1pPr>
              <a:defRPr sz="2550" b="1">
                <a:solidFill>
                  <a:srgbClr val="183942"/>
                </a:solidFill>
                <a:latin typeface="Arial"/>
                <a:ea typeface="Arial"/>
                <a:cs typeface="Arial"/>
              </a:defRPr>
            </a:lvl1pPr>
            <a:lvl2pPr>
              <a:defRPr sz="2550" b="1">
                <a:solidFill>
                  <a:srgbClr val="183942"/>
                </a:solidFill>
                <a:latin typeface="Arial"/>
                <a:ea typeface="Arial"/>
                <a:cs typeface="Arial"/>
              </a:defRPr>
            </a:lvl2pPr>
            <a:lvl3pPr>
              <a:defRPr sz="2550" b="1">
                <a:solidFill>
                  <a:srgbClr val="183942"/>
                </a:solidFill>
                <a:latin typeface="Arial"/>
                <a:ea typeface="Arial"/>
                <a:cs typeface="Arial"/>
              </a:defRPr>
            </a:lvl3pPr>
            <a:lvl4pPr>
              <a:defRPr sz="2550" b="1">
                <a:solidFill>
                  <a:srgbClr val="183942"/>
                </a:solidFill>
                <a:latin typeface="Arial"/>
                <a:ea typeface="Arial"/>
                <a:cs typeface="Arial"/>
              </a:defRPr>
            </a:lvl4pPr>
            <a:lvl5pPr>
              <a:defRPr sz="2550" b="1">
                <a:solidFill>
                  <a:srgbClr val="183942"/>
                </a:solidFill>
                <a:latin typeface="Arial"/>
                <a:ea typeface="Arial"/>
                <a:cs typeface="Arial"/>
              </a:defRPr>
            </a:lvl5pPr>
            <a:lvl6pPr>
              <a:defRPr sz="2550" b="1">
                <a:solidFill>
                  <a:srgbClr val="183942"/>
                </a:solidFill>
                <a:latin typeface="Arial"/>
                <a:ea typeface="Arial"/>
                <a:cs typeface="Arial"/>
              </a:defRPr>
            </a:lvl6pPr>
            <a:lvl7pPr>
              <a:defRPr sz="2550" b="1">
                <a:solidFill>
                  <a:srgbClr val="183942"/>
                </a:solidFill>
                <a:latin typeface="Arial"/>
                <a:ea typeface="Arial"/>
                <a:cs typeface="Arial"/>
              </a:defRPr>
            </a:lvl7pPr>
            <a:lvl8pPr>
              <a:defRPr sz="2550" b="1">
                <a:solidFill>
                  <a:srgbClr val="183942"/>
                </a:solidFill>
                <a:latin typeface="Arial"/>
                <a:ea typeface="Arial"/>
                <a:cs typeface="Arial"/>
              </a:defRPr>
            </a:lvl8pPr>
            <a:lvl9pPr>
              <a:defRPr sz="2550" b="1">
                <a:solidFill>
                  <a:srgbClr val="183942"/>
                </a:solidFill>
                <a:latin typeface="Arial"/>
                <a:ea typeface="Arial"/>
                <a:cs typeface="Arial"/>
              </a:defRPr>
            </a:lvl9pPr>
          </a:lstStyle>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23,34 giây</a:t>
            </a:r>
          </a:p>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Lần gọi đầu</a:t>
            </a:r>
          </a:p>
        </p:txBody>
      </p:sp>
      <p:sp>
        <p:nvSpPr>
          <p:cNvPr id="7" name="">
            <a:extLst xmlns:a="http://schemas.openxmlformats.org/drawingml/2006/main">
              <a:ext uri="{FF2B5EF4-FFF2-40B4-BE49-F238E27FC236}">
                <a16:creationId xmlns:a16="http://schemas.microsoft.com/office/drawing/2014/main" id="{ED7661D0-35A3-4F3F-BD42-767C8BE26674}"/>
              </a:ext>
            </a:extLst>
          </p:cNvPr>
          <p:cNvSpPr>
            <a:spLocks xmlns:a="http://schemas.openxmlformats.org/drawingml/2006/main" noGrp="1"/>
          </p:cNvSpPr>
          <p:nvPr/>
        </p:nvSpPr>
        <p:spPr>
          <a:xfrm xmlns:a="http://schemas.openxmlformats.org/drawingml/2006/main">
            <a:off x="8096250" y="3667125"/>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942"/>
                </a:solidFill>
                <a:latin typeface="Arial"/>
                <a:ea typeface="Arial"/>
                <a:cs typeface="Arial"/>
              </a:defRPr>
            </a:defPPr>
            <a:lvl1pPr>
              <a:defRPr sz="2550" b="1">
                <a:solidFill>
                  <a:srgbClr val="183942"/>
                </a:solidFill>
                <a:latin typeface="Arial"/>
                <a:ea typeface="Arial"/>
                <a:cs typeface="Arial"/>
              </a:defRPr>
            </a:lvl1pPr>
            <a:lvl2pPr>
              <a:defRPr sz="2550" b="1">
                <a:solidFill>
                  <a:srgbClr val="183942"/>
                </a:solidFill>
                <a:latin typeface="Arial"/>
                <a:ea typeface="Arial"/>
                <a:cs typeface="Arial"/>
              </a:defRPr>
            </a:lvl2pPr>
            <a:lvl3pPr>
              <a:defRPr sz="2550" b="1">
                <a:solidFill>
                  <a:srgbClr val="183942"/>
                </a:solidFill>
                <a:latin typeface="Arial"/>
                <a:ea typeface="Arial"/>
                <a:cs typeface="Arial"/>
              </a:defRPr>
            </a:lvl3pPr>
            <a:lvl4pPr>
              <a:defRPr sz="2550" b="1">
                <a:solidFill>
                  <a:srgbClr val="183942"/>
                </a:solidFill>
                <a:latin typeface="Arial"/>
                <a:ea typeface="Arial"/>
                <a:cs typeface="Arial"/>
              </a:defRPr>
            </a:lvl4pPr>
            <a:lvl5pPr>
              <a:defRPr sz="2550" b="1">
                <a:solidFill>
                  <a:srgbClr val="183942"/>
                </a:solidFill>
                <a:latin typeface="Arial"/>
                <a:ea typeface="Arial"/>
                <a:cs typeface="Arial"/>
              </a:defRPr>
            </a:lvl5pPr>
            <a:lvl6pPr>
              <a:defRPr sz="2550" b="1">
                <a:solidFill>
                  <a:srgbClr val="183942"/>
                </a:solidFill>
                <a:latin typeface="Arial"/>
                <a:ea typeface="Arial"/>
                <a:cs typeface="Arial"/>
              </a:defRPr>
            </a:lvl6pPr>
            <a:lvl7pPr>
              <a:defRPr sz="2550" b="1">
                <a:solidFill>
                  <a:srgbClr val="183942"/>
                </a:solidFill>
                <a:latin typeface="Arial"/>
                <a:ea typeface="Arial"/>
                <a:cs typeface="Arial"/>
              </a:defRPr>
            </a:lvl7pPr>
            <a:lvl8pPr>
              <a:defRPr sz="2550" b="1">
                <a:solidFill>
                  <a:srgbClr val="183942"/>
                </a:solidFill>
                <a:latin typeface="Arial"/>
                <a:ea typeface="Arial"/>
                <a:cs typeface="Arial"/>
              </a:defRPr>
            </a:lvl8pPr>
            <a:lvl9pPr>
              <a:defRPr sz="2550" b="1">
                <a:solidFill>
                  <a:srgbClr val="183942"/>
                </a:solidFill>
                <a:latin typeface="Arial"/>
                <a:ea typeface="Arial"/>
                <a:cs typeface="Arial"/>
              </a:defRPr>
            </a:lvl9pPr>
          </a:lstStyle>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5,20 giây</a:t>
            </a:r>
          </a:p>
          <a:p xmlns:a="http://schemas.openxmlformats.org/drawingml/2006/main">
            <a:pPr>
              <a:defRPr sz="2550" b="1">
                <a:solidFill>
                  <a:srgbClr val="183942"/>
                </a:solidFill>
                <a:latin typeface="Arial"/>
                <a:ea typeface="Arial"/>
                <a:cs typeface="Arial"/>
              </a:defRPr>
            </a:pPr>
            <a:r>
              <a:rPr sz="2550" b="1">
                <a:solidFill>
                  <a:srgbClr val="183942"/>
                </a:solidFill>
                <a:latin typeface="Arial"/>
                <a:ea typeface="Arial"/>
                <a:cs typeface="Arial"/>
              </a:rPr>
              <a:t>Median 4 lần sau</a:t>
            </a:r>
          </a:p>
        </p:txBody>
      </p:sp>
      <p:sp>
        <p:nvSpPr>
          <p:cNvPr id="8" name="">
            <a:extLst xmlns:a="http://schemas.openxmlformats.org/drawingml/2006/main">
              <a:ext uri="{FF2B5EF4-FFF2-40B4-BE49-F238E27FC236}">
                <a16:creationId xmlns:a16="http://schemas.microsoft.com/office/drawing/2014/main" id="{3D418198-A061-4D4E-972C-5B0480719557}"/>
              </a:ext>
            </a:extLst>
          </p:cNvPr>
          <p:cNvSpPr>
            <a:spLocks xmlns:a="http://schemas.openxmlformats.org/drawingml/2006/main" noGrp="1"/>
          </p:cNvSpPr>
          <p:nvPr/>
        </p:nvSpPr>
        <p:spPr>
          <a:xfrm xmlns:a="http://schemas.openxmlformats.org/drawingml/2006/main">
            <a:off x="609600" y="57626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57078"/>
                </a:solidFill>
                <a:latin typeface="Arial"/>
                <a:ea typeface="Arial"/>
                <a:cs typeface="Arial"/>
              </a:defRPr>
            </a:defPPr>
            <a:lvl1pPr>
              <a:defRPr sz="1800" b="0">
                <a:solidFill>
                  <a:srgbClr val="557078"/>
                </a:solidFill>
                <a:latin typeface="Arial"/>
                <a:ea typeface="Arial"/>
                <a:cs typeface="Arial"/>
              </a:defRPr>
            </a:lvl1pPr>
            <a:lvl2pPr>
              <a:defRPr sz="1800" b="0">
                <a:solidFill>
                  <a:srgbClr val="557078"/>
                </a:solidFill>
                <a:latin typeface="Arial"/>
                <a:ea typeface="Arial"/>
                <a:cs typeface="Arial"/>
              </a:defRPr>
            </a:lvl2pPr>
            <a:lvl3pPr>
              <a:defRPr sz="1800" b="0">
                <a:solidFill>
                  <a:srgbClr val="557078"/>
                </a:solidFill>
                <a:latin typeface="Arial"/>
                <a:ea typeface="Arial"/>
                <a:cs typeface="Arial"/>
              </a:defRPr>
            </a:lvl3pPr>
            <a:lvl4pPr>
              <a:defRPr sz="1800" b="0">
                <a:solidFill>
                  <a:srgbClr val="557078"/>
                </a:solidFill>
                <a:latin typeface="Arial"/>
                <a:ea typeface="Arial"/>
                <a:cs typeface="Arial"/>
              </a:defRPr>
            </a:lvl4pPr>
            <a:lvl5pPr>
              <a:defRPr sz="1800" b="0">
                <a:solidFill>
                  <a:srgbClr val="557078"/>
                </a:solidFill>
                <a:latin typeface="Arial"/>
                <a:ea typeface="Arial"/>
                <a:cs typeface="Arial"/>
              </a:defRPr>
            </a:lvl5pPr>
            <a:lvl6pPr>
              <a:defRPr sz="1800" b="0">
                <a:solidFill>
                  <a:srgbClr val="557078"/>
                </a:solidFill>
                <a:latin typeface="Arial"/>
                <a:ea typeface="Arial"/>
                <a:cs typeface="Arial"/>
              </a:defRPr>
            </a:lvl6pPr>
            <a:lvl7pPr>
              <a:defRPr sz="1800" b="0">
                <a:solidFill>
                  <a:srgbClr val="557078"/>
                </a:solidFill>
                <a:latin typeface="Arial"/>
                <a:ea typeface="Arial"/>
                <a:cs typeface="Arial"/>
              </a:defRPr>
            </a:lvl7pPr>
            <a:lvl8pPr>
              <a:defRPr sz="1800" b="0">
                <a:solidFill>
                  <a:srgbClr val="557078"/>
                </a:solidFill>
                <a:latin typeface="Arial"/>
                <a:ea typeface="Arial"/>
                <a:cs typeface="Arial"/>
              </a:defRPr>
            </a:lvl8pPr>
            <a:lvl9pPr>
              <a:defRPr sz="1800" b="0">
                <a:solidFill>
                  <a:srgbClr val="557078"/>
                </a:solidFill>
                <a:latin typeface="Arial"/>
                <a:ea typeface="Arial"/>
                <a:cs typeface="Arial"/>
              </a:defRPr>
            </a:lvl9pPr>
          </a:lstStyle>
          <a:p xmlns:a="http://schemas.openxmlformats.org/drawingml/2006/main">
            <a:pPr>
              <a:defRPr sz="1800" b="0">
                <a:solidFill>
                  <a:srgbClr val="557078"/>
                </a:solidFill>
                <a:latin typeface="Arial"/>
                <a:ea typeface="Arial"/>
                <a:cs typeface="Arial"/>
              </a:defRPr>
            </a:pPr>
            <a:r>
              <a:rPr sz="1800" b="0">
                <a:solidFill>
                  <a:srgbClr val="557078"/>
                </a:solidFill>
                <a:latin typeface="Arial"/>
                <a:ea typeface="Arial"/>
                <a:cs typeface="Arial"/>
              </a:rPr>
              <a:t>Độ trễ chỉ mô tả lần chạy này. Chưa nghiệm thu máy thứ hai.</a:t>
            </a:r>
          </a:p>
        </p:txBody>
      </p:sp>
    </p:spTree>
    <p:extLst>
      <p:ext uri="{BB962C8B-B14F-4D97-AF65-F5344CB8AC3E}">
        <p14:creationId xmlns:p14="http://schemas.microsoft.com/office/powerpoint/2010/main" val="449581109"/>
      </p:ext>
    </p:extLst>
  </p:cSld>
</p:sld>
</file>

<file path=ppt/slides/slide10.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460990-0CCA-49D1-98E3-C6CD478BD5F3}"/>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Sai số ASR có thể dẫn đến cảnh báo nhầm</a:t>
            </a:r>
          </a:p>
        </p:txBody>
      </p:sp>
      <p:sp>
        <p:nvSpPr>
          <p:cNvPr id="2" name="">
            <a:extLst xmlns:a="http://schemas.openxmlformats.org/drawingml/2006/main">
              <a:ext uri="{FF2B5EF4-FFF2-40B4-BE49-F238E27FC236}">
                <a16:creationId xmlns:a16="http://schemas.microsoft.com/office/drawing/2014/main" id="{B628EB04-83BD-4A9D-B4E2-6619347C24BE}"/>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40445720-B3C8-423B-81A2-5B0436FD0C58}"/>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0C4763F-1202-4286-953E-5F7867E5E523}"/>
              </a:ext>
            </a:extLst>
          </p:cNvPr>
          <p:cNvSpPr>
            <a:spLocks xmlns:a="http://schemas.openxmlformats.org/drawingml/2006/main" noGrp="1"/>
          </p:cNvSpPr>
          <p:nvPr/>
        </p:nvSpPr>
        <p:spPr>
          <a:xfrm xmlns:a="http://schemas.openxmlformats.org/drawingml/2006/main">
            <a:off x="609600" y="200025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AD6B25"/>
                </a:solidFill>
                <a:latin typeface="Arial"/>
                <a:ea typeface="Arial"/>
                <a:cs typeface="Arial"/>
              </a:defRPr>
            </a:defPPr>
            <a:lvl1pPr>
              <a:defRPr sz="5100" b="1">
                <a:solidFill>
                  <a:srgbClr val="AD6B25"/>
                </a:solidFill>
                <a:latin typeface="Arial"/>
                <a:ea typeface="Arial"/>
                <a:cs typeface="Arial"/>
              </a:defRPr>
            </a:lvl1pPr>
            <a:lvl2pPr>
              <a:defRPr sz="5100" b="1">
                <a:solidFill>
                  <a:srgbClr val="AD6B25"/>
                </a:solidFill>
                <a:latin typeface="Arial"/>
                <a:ea typeface="Arial"/>
                <a:cs typeface="Arial"/>
              </a:defRPr>
            </a:lvl2pPr>
            <a:lvl3pPr>
              <a:defRPr sz="5100" b="1">
                <a:solidFill>
                  <a:srgbClr val="AD6B25"/>
                </a:solidFill>
                <a:latin typeface="Arial"/>
                <a:ea typeface="Arial"/>
                <a:cs typeface="Arial"/>
              </a:defRPr>
            </a:lvl3pPr>
            <a:lvl4pPr>
              <a:defRPr sz="5100" b="1">
                <a:solidFill>
                  <a:srgbClr val="AD6B25"/>
                </a:solidFill>
                <a:latin typeface="Arial"/>
                <a:ea typeface="Arial"/>
                <a:cs typeface="Arial"/>
              </a:defRPr>
            </a:lvl4pPr>
            <a:lvl5pPr>
              <a:defRPr sz="5100" b="1">
                <a:solidFill>
                  <a:srgbClr val="AD6B25"/>
                </a:solidFill>
                <a:latin typeface="Arial"/>
                <a:ea typeface="Arial"/>
                <a:cs typeface="Arial"/>
              </a:defRPr>
            </a:lvl5pPr>
            <a:lvl6pPr>
              <a:defRPr sz="5100" b="1">
                <a:solidFill>
                  <a:srgbClr val="AD6B25"/>
                </a:solidFill>
                <a:latin typeface="Arial"/>
                <a:ea typeface="Arial"/>
                <a:cs typeface="Arial"/>
              </a:defRPr>
            </a:lvl6pPr>
            <a:lvl7pPr>
              <a:defRPr sz="5100" b="1">
                <a:solidFill>
                  <a:srgbClr val="AD6B25"/>
                </a:solidFill>
                <a:latin typeface="Arial"/>
                <a:ea typeface="Arial"/>
                <a:cs typeface="Arial"/>
              </a:defRPr>
            </a:lvl7pPr>
            <a:lvl8pPr>
              <a:defRPr sz="5100" b="1">
                <a:solidFill>
                  <a:srgbClr val="AD6B25"/>
                </a:solidFill>
                <a:latin typeface="Arial"/>
                <a:ea typeface="Arial"/>
                <a:cs typeface="Arial"/>
              </a:defRPr>
            </a:lvl8pPr>
            <a:lvl9pPr>
              <a:defRPr sz="5100" b="1">
                <a:solidFill>
                  <a:srgbClr val="AD6B25"/>
                </a:solidFill>
                <a:latin typeface="Arial"/>
                <a:ea typeface="Arial"/>
                <a:cs typeface="Arial"/>
              </a:defRPr>
            </a:lvl9pPr>
          </a:lstStyle>
          <a:p xmlns:a="http://schemas.openxmlformats.org/drawingml/2006/main">
            <a:pPr>
              <a:defRPr sz="5100" b="1">
                <a:solidFill>
                  <a:srgbClr val="AD6B25"/>
                </a:solidFill>
                <a:latin typeface="Arial"/>
                <a:ea typeface="Arial"/>
                <a:cs typeface="Arial"/>
              </a:defRPr>
            </a:pPr>
            <a:r>
              <a:rPr sz="5100" b="1">
                <a:solidFill>
                  <a:srgbClr val="AD6B25"/>
                </a:solidFill>
                <a:latin typeface="Arial"/>
                <a:ea typeface="Arial"/>
                <a:cs typeface="Arial"/>
              </a:rPr>
              <a:t>0,6333</a:t>
            </a:r>
          </a:p>
        </p:txBody>
      </p:sp>
      <p:sp>
        <p:nvSpPr>
          <p:cNvPr id="5" name="">
            <a:extLst xmlns:a="http://schemas.openxmlformats.org/drawingml/2006/main">
              <a:ext uri="{FF2B5EF4-FFF2-40B4-BE49-F238E27FC236}">
                <a16:creationId xmlns:a16="http://schemas.microsoft.com/office/drawing/2014/main" id="{A5419DE2-8CF2-4B89-B20A-15503F748213}"/>
              </a:ext>
            </a:extLst>
          </p:cNvPr>
          <p:cNvSpPr>
            <a:spLocks xmlns:a="http://schemas.openxmlformats.org/drawingml/2006/main" noGrp="1"/>
          </p:cNvSpPr>
          <p:nvPr/>
        </p:nvSpPr>
        <p:spPr>
          <a:xfrm xmlns:a="http://schemas.openxmlformats.org/drawingml/2006/main">
            <a:off x="609600" y="32861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942"/>
                </a:solidFill>
                <a:latin typeface="Arial"/>
                <a:ea typeface="Arial"/>
                <a:cs typeface="Arial"/>
              </a:defRPr>
            </a:defPPr>
            <a:lvl1pPr>
              <a:defRPr sz="2325" b="0">
                <a:solidFill>
                  <a:srgbClr val="183942"/>
                </a:solidFill>
                <a:latin typeface="Arial"/>
                <a:ea typeface="Arial"/>
                <a:cs typeface="Arial"/>
              </a:defRPr>
            </a:lvl1pPr>
            <a:lvl2pPr>
              <a:defRPr sz="2325" b="0">
                <a:solidFill>
                  <a:srgbClr val="183942"/>
                </a:solidFill>
                <a:latin typeface="Arial"/>
                <a:ea typeface="Arial"/>
                <a:cs typeface="Arial"/>
              </a:defRPr>
            </a:lvl2pPr>
            <a:lvl3pPr>
              <a:defRPr sz="2325" b="0">
                <a:solidFill>
                  <a:srgbClr val="183942"/>
                </a:solidFill>
                <a:latin typeface="Arial"/>
                <a:ea typeface="Arial"/>
                <a:cs typeface="Arial"/>
              </a:defRPr>
            </a:lvl3pPr>
            <a:lvl4pPr>
              <a:defRPr sz="2325" b="0">
                <a:solidFill>
                  <a:srgbClr val="183942"/>
                </a:solidFill>
                <a:latin typeface="Arial"/>
                <a:ea typeface="Arial"/>
                <a:cs typeface="Arial"/>
              </a:defRPr>
            </a:lvl4pPr>
            <a:lvl5pPr>
              <a:defRPr sz="2325" b="0">
                <a:solidFill>
                  <a:srgbClr val="183942"/>
                </a:solidFill>
                <a:latin typeface="Arial"/>
                <a:ea typeface="Arial"/>
                <a:cs typeface="Arial"/>
              </a:defRPr>
            </a:lvl5pPr>
            <a:lvl6pPr>
              <a:defRPr sz="2325" b="0">
                <a:solidFill>
                  <a:srgbClr val="183942"/>
                </a:solidFill>
                <a:latin typeface="Arial"/>
                <a:ea typeface="Arial"/>
                <a:cs typeface="Arial"/>
              </a:defRPr>
            </a:lvl6pPr>
            <a:lvl7pPr>
              <a:defRPr sz="2325" b="0">
                <a:solidFill>
                  <a:srgbClr val="183942"/>
                </a:solidFill>
                <a:latin typeface="Arial"/>
                <a:ea typeface="Arial"/>
                <a:cs typeface="Arial"/>
              </a:defRPr>
            </a:lvl7pPr>
            <a:lvl8pPr>
              <a:defRPr sz="2325" b="0">
                <a:solidFill>
                  <a:srgbClr val="183942"/>
                </a:solidFill>
                <a:latin typeface="Arial"/>
                <a:ea typeface="Arial"/>
                <a:cs typeface="Arial"/>
              </a:defRPr>
            </a:lvl8pPr>
            <a:lvl9pPr>
              <a:defRPr sz="2325" b="0">
                <a:solidFill>
                  <a:srgbClr val="183942"/>
                </a:solidFill>
                <a:latin typeface="Arial"/>
                <a:ea typeface="Arial"/>
                <a:cs typeface="Arial"/>
              </a:defRPr>
            </a:lvl9pPr>
          </a:lstStyle>
          <a:p xmlns:a="http://schemas.openxmlformats.org/drawingml/2006/main">
            <a:pPr>
              <a:defRPr sz="2325" b="0">
                <a:solidFill>
                  <a:srgbClr val="183942"/>
                </a:solidFill>
                <a:latin typeface="Arial"/>
                <a:ea typeface="Arial"/>
                <a:cs typeface="Arial"/>
              </a:defRPr>
            </a:pPr>
            <a:r>
              <a:rPr sz="2325" b="0">
                <a:solidFill>
                  <a:srgbClr val="183942"/>
                </a:solidFill>
                <a:latin typeface="Arial"/>
                <a:ea typeface="Arial"/>
                <a:cs typeface="Arial"/>
              </a:rPr>
              <a:t>Điểm Toxic của đoạn ASR</a:t>
            </a:r>
          </a:p>
          <a:p xmlns:a="http://schemas.openxmlformats.org/drawingml/2006/main">
            <a:pPr>
              <a:defRPr sz="2325" b="0">
                <a:solidFill>
                  <a:srgbClr val="183942"/>
                </a:solidFill>
                <a:latin typeface="Arial"/>
                <a:ea typeface="Arial"/>
                <a:cs typeface="Arial"/>
              </a:defRPr>
            </a:pPr>
            <a:r>
              <a:rPr sz="2325" b="0">
                <a:solidFill>
                  <a:srgbClr val="183942"/>
                </a:solidFill>
                <a:latin typeface="Arial"/>
                <a:ea typeface="Arial"/>
                <a:cs typeface="Arial"/>
              </a:rPr>
              <a:t>Vượt ngưỡng 0,59</a:t>
            </a:r>
          </a:p>
        </p:txBody>
      </p:sp>
      <p:sp>
        <p:nvSpPr>
          <p:cNvPr id="6" name="">
            <a:extLst xmlns:a="http://schemas.openxmlformats.org/drawingml/2006/main">
              <a:ext uri="{FF2B5EF4-FFF2-40B4-BE49-F238E27FC236}">
                <a16:creationId xmlns:a16="http://schemas.microsoft.com/office/drawing/2014/main" id="{20750705-927B-4758-AA01-7072DA6F7656}"/>
              </a:ext>
            </a:extLst>
          </p:cNvPr>
          <p:cNvSpPr>
            <a:spLocks xmlns:a="http://schemas.openxmlformats.org/drawingml/2006/main" noGrp="1"/>
          </p:cNvSpPr>
          <p:nvPr/>
        </p:nvSpPr>
        <p:spPr>
          <a:xfrm xmlns:a="http://schemas.openxmlformats.org/drawingml/2006/main">
            <a:off x="6667500" y="20002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47D83"/>
                </a:solidFill>
                <a:latin typeface="Arial"/>
                <a:ea typeface="Arial"/>
                <a:cs typeface="Arial"/>
              </a:defRPr>
            </a:defPPr>
            <a:lvl1pPr>
              <a:defRPr sz="5100" b="1">
                <a:solidFill>
                  <a:srgbClr val="147D83"/>
                </a:solidFill>
                <a:latin typeface="Arial"/>
                <a:ea typeface="Arial"/>
                <a:cs typeface="Arial"/>
              </a:defRPr>
            </a:lvl1pPr>
            <a:lvl2pPr>
              <a:defRPr sz="5100" b="1">
                <a:solidFill>
                  <a:srgbClr val="147D83"/>
                </a:solidFill>
                <a:latin typeface="Arial"/>
                <a:ea typeface="Arial"/>
                <a:cs typeface="Arial"/>
              </a:defRPr>
            </a:lvl2pPr>
            <a:lvl3pPr>
              <a:defRPr sz="5100" b="1">
                <a:solidFill>
                  <a:srgbClr val="147D83"/>
                </a:solidFill>
                <a:latin typeface="Arial"/>
                <a:ea typeface="Arial"/>
                <a:cs typeface="Arial"/>
              </a:defRPr>
            </a:lvl3pPr>
            <a:lvl4pPr>
              <a:defRPr sz="5100" b="1">
                <a:solidFill>
                  <a:srgbClr val="147D83"/>
                </a:solidFill>
                <a:latin typeface="Arial"/>
                <a:ea typeface="Arial"/>
                <a:cs typeface="Arial"/>
              </a:defRPr>
            </a:lvl4pPr>
            <a:lvl5pPr>
              <a:defRPr sz="5100" b="1">
                <a:solidFill>
                  <a:srgbClr val="147D83"/>
                </a:solidFill>
                <a:latin typeface="Arial"/>
                <a:ea typeface="Arial"/>
                <a:cs typeface="Arial"/>
              </a:defRPr>
            </a:lvl5pPr>
            <a:lvl6pPr>
              <a:defRPr sz="5100" b="1">
                <a:solidFill>
                  <a:srgbClr val="147D83"/>
                </a:solidFill>
                <a:latin typeface="Arial"/>
                <a:ea typeface="Arial"/>
                <a:cs typeface="Arial"/>
              </a:defRPr>
            </a:lvl6pPr>
            <a:lvl7pPr>
              <a:defRPr sz="5100" b="1">
                <a:solidFill>
                  <a:srgbClr val="147D83"/>
                </a:solidFill>
                <a:latin typeface="Arial"/>
                <a:ea typeface="Arial"/>
                <a:cs typeface="Arial"/>
              </a:defRPr>
            </a:lvl7pPr>
            <a:lvl8pPr>
              <a:defRPr sz="5100" b="1">
                <a:solidFill>
                  <a:srgbClr val="147D83"/>
                </a:solidFill>
                <a:latin typeface="Arial"/>
                <a:ea typeface="Arial"/>
                <a:cs typeface="Arial"/>
              </a:defRPr>
            </a:lvl8pPr>
            <a:lvl9pPr>
              <a:defRPr sz="5100" b="1">
                <a:solidFill>
                  <a:srgbClr val="147D83"/>
                </a:solidFill>
                <a:latin typeface="Arial"/>
                <a:ea typeface="Arial"/>
                <a:cs typeface="Arial"/>
              </a:defRPr>
            </a:lvl9pPr>
          </a:lstStyle>
          <a:p xmlns:a="http://schemas.openxmlformats.org/drawingml/2006/main">
            <a:pPr>
              <a:defRPr sz="5100" b="1">
                <a:solidFill>
                  <a:srgbClr val="147D83"/>
                </a:solidFill>
                <a:latin typeface="Arial"/>
                <a:ea typeface="Arial"/>
                <a:cs typeface="Arial"/>
              </a:defRPr>
            </a:pPr>
            <a:r>
              <a:rPr sz="5100" b="1">
                <a:solidFill>
                  <a:srgbClr val="147D83"/>
                </a:solidFill>
                <a:latin typeface="Arial"/>
                <a:ea typeface="Arial"/>
                <a:cs typeface="Arial"/>
              </a:rPr>
              <a:t>0,1525</a:t>
            </a:r>
          </a:p>
        </p:txBody>
      </p:sp>
      <p:sp>
        <p:nvSpPr>
          <p:cNvPr id="7" name="">
            <a:extLst xmlns:a="http://schemas.openxmlformats.org/drawingml/2006/main">
              <a:ext uri="{FF2B5EF4-FFF2-40B4-BE49-F238E27FC236}">
                <a16:creationId xmlns:a16="http://schemas.microsoft.com/office/drawing/2014/main" id="{29BBD63A-33F4-4636-80A1-F7ACC4D312E0}"/>
              </a:ext>
            </a:extLst>
          </p:cNvPr>
          <p:cNvSpPr>
            <a:spLocks xmlns:a="http://schemas.openxmlformats.org/drawingml/2006/main" noGrp="1"/>
          </p:cNvSpPr>
          <p:nvPr/>
        </p:nvSpPr>
        <p:spPr>
          <a:xfrm xmlns:a="http://schemas.openxmlformats.org/drawingml/2006/main">
            <a:off x="6667500" y="328612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Điểm của văn bản chuẩn toàn câu</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Cùng mẫu giọng nói FLEURS</a:t>
            </a:r>
          </a:p>
        </p:txBody>
      </p:sp>
      <p:sp>
        <p:nvSpPr>
          <p:cNvPr id="8" name="">
            <a:extLst xmlns:a="http://schemas.openxmlformats.org/drawingml/2006/main">
              <a:ext uri="{FF2B5EF4-FFF2-40B4-BE49-F238E27FC236}">
                <a16:creationId xmlns:a16="http://schemas.microsoft.com/office/drawing/2014/main" id="{1697D3C5-B806-4154-9500-DD17FE90B1DD}"/>
              </a:ext>
            </a:extLst>
          </p:cNvPr>
          <p:cNvSpPr>
            <a:spLocks xmlns:a="http://schemas.openxmlformats.org/drawingml/2006/main" noGrp="1"/>
          </p:cNvSpPr>
          <p:nvPr/>
        </p:nvSpPr>
        <p:spPr>
          <a:xfrm xmlns:a="http://schemas.openxmlformats.org/drawingml/2006/main">
            <a:off x="609600" y="50958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942"/>
                </a:solidFill>
                <a:latin typeface="Arial"/>
                <a:ea typeface="Arial"/>
                <a:cs typeface="Arial"/>
              </a:defRPr>
            </a:defPPr>
            <a:lvl1pPr>
              <a:defRPr sz="2025" b="0">
                <a:solidFill>
                  <a:srgbClr val="183942"/>
                </a:solidFill>
                <a:latin typeface="Arial"/>
                <a:ea typeface="Arial"/>
                <a:cs typeface="Arial"/>
              </a:defRPr>
            </a:lvl1pPr>
            <a:lvl2pPr>
              <a:defRPr sz="2025" b="0">
                <a:solidFill>
                  <a:srgbClr val="183942"/>
                </a:solidFill>
                <a:latin typeface="Arial"/>
                <a:ea typeface="Arial"/>
                <a:cs typeface="Arial"/>
              </a:defRPr>
            </a:lvl2pPr>
            <a:lvl3pPr>
              <a:defRPr sz="2025" b="0">
                <a:solidFill>
                  <a:srgbClr val="183942"/>
                </a:solidFill>
                <a:latin typeface="Arial"/>
                <a:ea typeface="Arial"/>
                <a:cs typeface="Arial"/>
              </a:defRPr>
            </a:lvl3pPr>
            <a:lvl4pPr>
              <a:defRPr sz="2025" b="0">
                <a:solidFill>
                  <a:srgbClr val="183942"/>
                </a:solidFill>
                <a:latin typeface="Arial"/>
                <a:ea typeface="Arial"/>
                <a:cs typeface="Arial"/>
              </a:defRPr>
            </a:lvl4pPr>
            <a:lvl5pPr>
              <a:defRPr sz="2025" b="0">
                <a:solidFill>
                  <a:srgbClr val="183942"/>
                </a:solidFill>
                <a:latin typeface="Arial"/>
                <a:ea typeface="Arial"/>
                <a:cs typeface="Arial"/>
              </a:defRPr>
            </a:lvl5pPr>
            <a:lvl6pPr>
              <a:defRPr sz="2025" b="0">
                <a:solidFill>
                  <a:srgbClr val="183942"/>
                </a:solidFill>
                <a:latin typeface="Arial"/>
                <a:ea typeface="Arial"/>
                <a:cs typeface="Arial"/>
              </a:defRPr>
            </a:lvl6pPr>
            <a:lvl7pPr>
              <a:defRPr sz="2025" b="0">
                <a:solidFill>
                  <a:srgbClr val="183942"/>
                </a:solidFill>
                <a:latin typeface="Arial"/>
                <a:ea typeface="Arial"/>
                <a:cs typeface="Arial"/>
              </a:defRPr>
            </a:lvl7pPr>
            <a:lvl8pPr>
              <a:defRPr sz="2025" b="0">
                <a:solidFill>
                  <a:srgbClr val="183942"/>
                </a:solidFill>
                <a:latin typeface="Arial"/>
                <a:ea typeface="Arial"/>
                <a:cs typeface="Arial"/>
              </a:defRPr>
            </a:lvl8pPr>
            <a:lvl9pPr>
              <a:defRPr sz="2025" b="0">
                <a:solidFill>
                  <a:srgbClr val="183942"/>
                </a:solidFill>
                <a:latin typeface="Arial"/>
                <a:ea typeface="Arial"/>
                <a:cs typeface="Arial"/>
              </a:defRPr>
            </a:lvl9pPr>
          </a:lstStyle>
          <a:p xmlns:a="http://schemas.openxmlformats.org/drawingml/2006/main">
            <a:pPr>
              <a:defRPr sz="2025" b="0">
                <a:solidFill>
                  <a:srgbClr val="183942"/>
                </a:solidFill>
                <a:latin typeface="Arial"/>
                <a:ea typeface="Arial"/>
                <a:cs typeface="Arial"/>
              </a:defRPr>
            </a:pPr>
            <a:r>
              <a:rPr sz="2025" b="0">
                <a:solidFill>
                  <a:srgbClr val="183942"/>
                </a:solidFill>
                <a:latin typeface="Arial"/>
                <a:ea typeface="Arial"/>
                <a:cs typeface="Arial"/>
              </a:rPr>
              <a:t>Một ca lỗi. Chưa tách riêng tác động ASR và phân đoạn.</a:t>
            </a:r>
          </a:p>
          <a:p xmlns:a="http://schemas.openxmlformats.org/drawingml/2006/main">
            <a:pPr>
              <a:defRPr sz="2025" b="0">
                <a:solidFill>
                  <a:srgbClr val="183942"/>
                </a:solidFill>
                <a:latin typeface="Arial"/>
                <a:ea typeface="Arial"/>
                <a:cs typeface="Arial"/>
              </a:defRPr>
            </a:pPr>
            <a:r>
              <a:rPr sz="2025" b="0">
                <a:solidFill>
                  <a:srgbClr val="183942"/>
                </a:solidFill>
                <a:latin typeface="Arial"/>
                <a:ea typeface="Arial"/>
                <a:cs typeface="Arial"/>
              </a:rPr>
              <a:t>Visual lấy frame thưa cũng có thể bỏ sót hành động ngắn.</a:t>
            </a:r>
          </a:p>
        </p:txBody>
      </p:sp>
    </p:spTree>
    <p:extLst>
      <p:ext uri="{BB962C8B-B14F-4D97-AF65-F5344CB8AC3E}">
        <p14:creationId xmlns:p14="http://schemas.microsoft.com/office/powerpoint/2010/main" val="243469227"/>
      </p:ext>
    </p:extLst>
  </p:cSld>
</p:sld>
</file>

<file path=ppt/slides/slide11.xml><?xml version="1.0" encoding="utf-8"?>
<p:sld xmlns:p="http://schemas.openxmlformats.org/presentationml/2006/main">
  <p:cSld>
    <p:bg>
      <p:bgPr>
        <a:solidFill xmlns:a="http://schemas.openxmlformats.org/drawingml/2006/main">
          <a:srgbClr val="F5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E33000-6936-4151-9569-B04D42447822}"/>
              </a:ext>
            </a:extLst>
          </p:cNvPr>
          <p:cNvSpPr>
            <a:spLocks xmlns:a="http://schemas.openxmlformats.org/drawingml/2006/main" noGrp="1"/>
          </p:cNvSpPr>
          <p:nvPr/>
        </p:nvSpPr>
        <p:spPr>
          <a:xfrm xmlns:a="http://schemas.openxmlformats.org/drawingml/2006/main">
            <a:off x="609600" y="4953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942"/>
                </a:solidFill>
                <a:latin typeface="Arial"/>
                <a:ea typeface="Arial"/>
                <a:cs typeface="Arial"/>
              </a:defRPr>
            </a:defPPr>
            <a:lvl1pPr>
              <a:defRPr sz="3300" b="1">
                <a:solidFill>
                  <a:srgbClr val="183942"/>
                </a:solidFill>
                <a:latin typeface="Arial"/>
                <a:ea typeface="Arial"/>
                <a:cs typeface="Arial"/>
              </a:defRPr>
            </a:lvl1pPr>
            <a:lvl2pPr>
              <a:defRPr sz="3300" b="1">
                <a:solidFill>
                  <a:srgbClr val="183942"/>
                </a:solidFill>
                <a:latin typeface="Arial"/>
                <a:ea typeface="Arial"/>
                <a:cs typeface="Arial"/>
              </a:defRPr>
            </a:lvl2pPr>
            <a:lvl3pPr>
              <a:defRPr sz="3300" b="1">
                <a:solidFill>
                  <a:srgbClr val="183942"/>
                </a:solidFill>
                <a:latin typeface="Arial"/>
                <a:ea typeface="Arial"/>
                <a:cs typeface="Arial"/>
              </a:defRPr>
            </a:lvl3pPr>
            <a:lvl4pPr>
              <a:defRPr sz="3300" b="1">
                <a:solidFill>
                  <a:srgbClr val="183942"/>
                </a:solidFill>
                <a:latin typeface="Arial"/>
                <a:ea typeface="Arial"/>
                <a:cs typeface="Arial"/>
              </a:defRPr>
            </a:lvl4pPr>
            <a:lvl5pPr>
              <a:defRPr sz="3300" b="1">
                <a:solidFill>
                  <a:srgbClr val="183942"/>
                </a:solidFill>
                <a:latin typeface="Arial"/>
                <a:ea typeface="Arial"/>
                <a:cs typeface="Arial"/>
              </a:defRPr>
            </a:lvl5pPr>
            <a:lvl6pPr>
              <a:defRPr sz="3300" b="1">
                <a:solidFill>
                  <a:srgbClr val="183942"/>
                </a:solidFill>
                <a:latin typeface="Arial"/>
                <a:ea typeface="Arial"/>
                <a:cs typeface="Arial"/>
              </a:defRPr>
            </a:lvl6pPr>
            <a:lvl7pPr>
              <a:defRPr sz="3300" b="1">
                <a:solidFill>
                  <a:srgbClr val="183942"/>
                </a:solidFill>
                <a:latin typeface="Arial"/>
                <a:ea typeface="Arial"/>
                <a:cs typeface="Arial"/>
              </a:defRPr>
            </a:lvl7pPr>
            <a:lvl8pPr>
              <a:defRPr sz="3300" b="1">
                <a:solidFill>
                  <a:srgbClr val="183942"/>
                </a:solidFill>
                <a:latin typeface="Arial"/>
                <a:ea typeface="Arial"/>
                <a:cs typeface="Arial"/>
              </a:defRPr>
            </a:lvl8pPr>
            <a:lvl9pPr>
              <a:defRPr sz="3300" b="1">
                <a:solidFill>
                  <a:srgbClr val="183942"/>
                </a:solidFill>
                <a:latin typeface="Arial"/>
                <a:ea typeface="Arial"/>
                <a:cs typeface="Arial"/>
              </a:defRPr>
            </a:lvl9pPr>
          </a:lstStyle>
          <a:p xmlns:a="http://schemas.openxmlformats.org/drawingml/2006/main">
            <a:pPr>
              <a:defRPr sz="3300" b="1">
                <a:solidFill>
                  <a:srgbClr val="183942"/>
                </a:solidFill>
                <a:latin typeface="Arial"/>
                <a:ea typeface="Arial"/>
                <a:cs typeface="Arial"/>
              </a:defRPr>
            </a:pPr>
            <a:r>
              <a:rPr sz="3300" b="1">
                <a:solidFill>
                  <a:srgbClr val="183942"/>
                </a:solidFill>
                <a:latin typeface="Arial"/>
                <a:ea typeface="Arial"/>
                <a:cs typeface="Arial"/>
              </a:rPr>
              <a:t>Đóng góp và công việc trước nghiệm thu</a:t>
            </a:r>
          </a:p>
        </p:txBody>
      </p:sp>
      <p:sp>
        <p:nvSpPr>
          <p:cNvPr id="2" name="">
            <a:extLst xmlns:a="http://schemas.openxmlformats.org/drawingml/2006/main">
              <a:ext uri="{FF2B5EF4-FFF2-40B4-BE49-F238E27FC236}">
                <a16:creationId xmlns:a16="http://schemas.microsoft.com/office/drawing/2014/main" id="{F786CC4E-84EC-4670-A528-32E193E5660D}"/>
              </a:ext>
            </a:extLst>
          </p:cNvPr>
          <p:cNvSpPr>
            <a:spLocks xmlns:a="http://schemas.openxmlformats.org/drawingml/2006/main" noGrp="1"/>
          </p:cNvSpPr>
          <p:nvPr/>
        </p:nvSpPr>
        <p:spPr>
          <a:xfrm xmlns:a="http://schemas.openxmlformats.org/drawingml/2006/main">
            <a:off x="609600" y="638175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KidSafeReels     Học máy và ứng dụng</a:t>
            </a:r>
          </a:p>
        </p:txBody>
      </p:sp>
      <p:sp>
        <p:nvSpPr>
          <p:cNvPr id="3" name="">
            <a:extLst xmlns:a="http://schemas.openxmlformats.org/drawingml/2006/main">
              <a:ext uri="{FF2B5EF4-FFF2-40B4-BE49-F238E27FC236}">
                <a16:creationId xmlns:a16="http://schemas.microsoft.com/office/drawing/2014/main" id="{23750D6A-71B3-4518-BAB7-27B5165653C7}"/>
              </a:ext>
            </a:extLst>
          </p:cNvPr>
          <p:cNvSpPr>
            <a:spLocks xmlns:a="http://schemas.openxmlformats.org/drawingml/2006/main" noGrp="1"/>
          </p:cNvSpPr>
          <p:nvPr/>
        </p:nvSpPr>
        <p:spPr>
          <a:xfrm xmlns:a="http://schemas.openxmlformats.org/drawingml/2006/main">
            <a:off x="10953750" y="6381750"/>
            <a:ext cx="61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7078"/>
                </a:solidFill>
                <a:latin typeface="Arial"/>
                <a:ea typeface="Arial"/>
                <a:cs typeface="Arial"/>
              </a:defRPr>
            </a:defPPr>
            <a:lvl1pPr>
              <a:defRPr sz="1350" b="0">
                <a:solidFill>
                  <a:srgbClr val="557078"/>
                </a:solidFill>
                <a:latin typeface="Arial"/>
                <a:ea typeface="Arial"/>
                <a:cs typeface="Arial"/>
              </a:defRPr>
            </a:lvl1pPr>
            <a:lvl2pPr>
              <a:defRPr sz="1350" b="0">
                <a:solidFill>
                  <a:srgbClr val="557078"/>
                </a:solidFill>
                <a:latin typeface="Arial"/>
                <a:ea typeface="Arial"/>
                <a:cs typeface="Arial"/>
              </a:defRPr>
            </a:lvl2pPr>
            <a:lvl3pPr>
              <a:defRPr sz="1350" b="0">
                <a:solidFill>
                  <a:srgbClr val="557078"/>
                </a:solidFill>
                <a:latin typeface="Arial"/>
                <a:ea typeface="Arial"/>
                <a:cs typeface="Arial"/>
              </a:defRPr>
            </a:lvl3pPr>
            <a:lvl4pPr>
              <a:defRPr sz="1350" b="0">
                <a:solidFill>
                  <a:srgbClr val="557078"/>
                </a:solidFill>
                <a:latin typeface="Arial"/>
                <a:ea typeface="Arial"/>
                <a:cs typeface="Arial"/>
              </a:defRPr>
            </a:lvl4pPr>
            <a:lvl5pPr>
              <a:defRPr sz="1350" b="0">
                <a:solidFill>
                  <a:srgbClr val="557078"/>
                </a:solidFill>
                <a:latin typeface="Arial"/>
                <a:ea typeface="Arial"/>
                <a:cs typeface="Arial"/>
              </a:defRPr>
            </a:lvl5pPr>
            <a:lvl6pPr>
              <a:defRPr sz="1350" b="0">
                <a:solidFill>
                  <a:srgbClr val="557078"/>
                </a:solidFill>
                <a:latin typeface="Arial"/>
                <a:ea typeface="Arial"/>
                <a:cs typeface="Arial"/>
              </a:defRPr>
            </a:lvl6pPr>
            <a:lvl7pPr>
              <a:defRPr sz="1350" b="0">
                <a:solidFill>
                  <a:srgbClr val="557078"/>
                </a:solidFill>
                <a:latin typeface="Arial"/>
                <a:ea typeface="Arial"/>
                <a:cs typeface="Arial"/>
              </a:defRPr>
            </a:lvl7pPr>
            <a:lvl8pPr>
              <a:defRPr sz="1350" b="0">
                <a:solidFill>
                  <a:srgbClr val="557078"/>
                </a:solidFill>
                <a:latin typeface="Arial"/>
                <a:ea typeface="Arial"/>
                <a:cs typeface="Arial"/>
              </a:defRPr>
            </a:lvl8pPr>
            <a:lvl9pPr>
              <a:defRPr sz="1350" b="0">
                <a:solidFill>
                  <a:srgbClr val="557078"/>
                </a:solidFill>
                <a:latin typeface="Arial"/>
                <a:ea typeface="Arial"/>
                <a:cs typeface="Arial"/>
              </a:defRPr>
            </a:lvl9pPr>
          </a:lstStyle>
          <a:p xmlns:a="http://schemas.openxmlformats.org/drawingml/2006/main">
            <a:pPr>
              <a:defRPr sz="1350" b="0">
                <a:solidFill>
                  <a:srgbClr val="557078"/>
                </a:solidFill>
                <a:latin typeface="Arial"/>
                <a:ea typeface="Arial"/>
                <a:cs typeface="Arial"/>
              </a:defRPr>
            </a:pPr>
            <a:r>
              <a:rPr sz="1350" b="0">
                <a:solidFill>
                  <a:srgbClr val="557078"/>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B56D2FF-D16B-48A0-B3BF-9AC2F244C550}"/>
              </a:ext>
            </a:extLst>
          </p:cNvPr>
          <p:cNvSpPr>
            <a:spLocks xmlns:a="http://schemas.openxmlformats.org/drawingml/2006/main" noGrp="1"/>
          </p:cNvSpPr>
          <p:nvPr/>
        </p:nvSpPr>
        <p:spPr>
          <a:xfrm xmlns:a="http://schemas.openxmlformats.org/drawingml/2006/main">
            <a:off x="609600" y="19050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D83"/>
                </a:solidFill>
                <a:latin typeface="Arial"/>
                <a:ea typeface="Arial"/>
                <a:cs typeface="Arial"/>
              </a:defRPr>
            </a:defPPr>
            <a:lvl1pPr>
              <a:defRPr sz="2400" b="1">
                <a:solidFill>
                  <a:srgbClr val="147D83"/>
                </a:solidFill>
                <a:latin typeface="Arial"/>
                <a:ea typeface="Arial"/>
                <a:cs typeface="Arial"/>
              </a:defRPr>
            </a:lvl1pPr>
            <a:lvl2pPr>
              <a:defRPr sz="2400" b="1">
                <a:solidFill>
                  <a:srgbClr val="147D83"/>
                </a:solidFill>
                <a:latin typeface="Arial"/>
                <a:ea typeface="Arial"/>
                <a:cs typeface="Arial"/>
              </a:defRPr>
            </a:lvl2pPr>
            <a:lvl3pPr>
              <a:defRPr sz="2400" b="1">
                <a:solidFill>
                  <a:srgbClr val="147D83"/>
                </a:solidFill>
                <a:latin typeface="Arial"/>
                <a:ea typeface="Arial"/>
                <a:cs typeface="Arial"/>
              </a:defRPr>
            </a:lvl3pPr>
            <a:lvl4pPr>
              <a:defRPr sz="2400" b="1">
                <a:solidFill>
                  <a:srgbClr val="147D83"/>
                </a:solidFill>
                <a:latin typeface="Arial"/>
                <a:ea typeface="Arial"/>
                <a:cs typeface="Arial"/>
              </a:defRPr>
            </a:lvl4pPr>
            <a:lvl5pPr>
              <a:defRPr sz="2400" b="1">
                <a:solidFill>
                  <a:srgbClr val="147D83"/>
                </a:solidFill>
                <a:latin typeface="Arial"/>
                <a:ea typeface="Arial"/>
                <a:cs typeface="Arial"/>
              </a:defRPr>
            </a:lvl5pPr>
            <a:lvl6pPr>
              <a:defRPr sz="2400" b="1">
                <a:solidFill>
                  <a:srgbClr val="147D83"/>
                </a:solidFill>
                <a:latin typeface="Arial"/>
                <a:ea typeface="Arial"/>
                <a:cs typeface="Arial"/>
              </a:defRPr>
            </a:lvl6pPr>
            <a:lvl7pPr>
              <a:defRPr sz="2400" b="1">
                <a:solidFill>
                  <a:srgbClr val="147D83"/>
                </a:solidFill>
                <a:latin typeface="Arial"/>
                <a:ea typeface="Arial"/>
                <a:cs typeface="Arial"/>
              </a:defRPr>
            </a:lvl7pPr>
            <a:lvl8pPr>
              <a:defRPr sz="2400" b="1">
                <a:solidFill>
                  <a:srgbClr val="147D83"/>
                </a:solidFill>
                <a:latin typeface="Arial"/>
                <a:ea typeface="Arial"/>
                <a:cs typeface="Arial"/>
              </a:defRPr>
            </a:lvl8pPr>
            <a:lvl9pPr>
              <a:defRPr sz="2400" b="1">
                <a:solidFill>
                  <a:srgbClr val="147D83"/>
                </a:solidFill>
                <a:latin typeface="Arial"/>
                <a:ea typeface="Arial"/>
                <a:cs typeface="Arial"/>
              </a:defRPr>
            </a:lvl9pPr>
          </a:lstStyle>
          <a:p xmlns:a="http://schemas.openxmlformats.org/drawingml/2006/main">
            <a:pPr>
              <a:defRPr sz="2400" b="1">
                <a:solidFill>
                  <a:srgbClr val="147D83"/>
                </a:solidFill>
                <a:latin typeface="Arial"/>
                <a:ea typeface="Arial"/>
                <a:cs typeface="Arial"/>
              </a:defRPr>
            </a:pPr>
            <a:r>
              <a:rPr sz="2400" b="1">
                <a:solidFill>
                  <a:srgbClr val="147D83"/>
                </a:solidFill>
                <a:latin typeface="Arial"/>
                <a:ea typeface="Arial"/>
                <a:cs typeface="Arial"/>
              </a:rPr>
              <a:t>Huy</a:t>
            </a:r>
          </a:p>
        </p:txBody>
      </p:sp>
      <p:sp>
        <p:nvSpPr>
          <p:cNvPr id="5" name="">
            <a:extLst xmlns:a="http://schemas.openxmlformats.org/drawingml/2006/main">
              <a:ext uri="{FF2B5EF4-FFF2-40B4-BE49-F238E27FC236}">
                <a16:creationId xmlns:a16="http://schemas.microsoft.com/office/drawing/2014/main" id="{AFF5FCFC-ABB2-42E0-938C-67CF5073D3C5}"/>
              </a:ext>
            </a:extLst>
          </p:cNvPr>
          <p:cNvSpPr>
            <a:spLocks xmlns:a="http://schemas.openxmlformats.org/drawingml/2006/main" noGrp="1"/>
          </p:cNvSpPr>
          <p:nvPr/>
        </p:nvSpPr>
        <p:spPr>
          <a:xfrm xmlns:a="http://schemas.openxmlformats.org/drawingml/2006/main">
            <a:off x="609600" y="2667000"/>
            <a:ext cx="5381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Dữ liệu, chia tập và hai baseline</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ASR, kết hợp quyết định</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Đánh giá, báo cáo và tích hợp</a:t>
            </a:r>
          </a:p>
        </p:txBody>
      </p:sp>
      <p:sp>
        <p:nvSpPr>
          <p:cNvPr id="6" name="">
            <a:extLst xmlns:a="http://schemas.openxmlformats.org/drawingml/2006/main">
              <a:ext uri="{FF2B5EF4-FFF2-40B4-BE49-F238E27FC236}">
                <a16:creationId xmlns:a16="http://schemas.microsoft.com/office/drawing/2014/main" id="{3C4AFC60-783B-41AC-A3E5-C7814FC984C4}"/>
              </a:ext>
            </a:extLst>
          </p:cNvPr>
          <p:cNvSpPr>
            <a:spLocks xmlns:a="http://schemas.openxmlformats.org/drawingml/2006/main" noGrp="1"/>
          </p:cNvSpPr>
          <p:nvPr/>
        </p:nvSpPr>
        <p:spPr>
          <a:xfrm xmlns:a="http://schemas.openxmlformats.org/drawingml/2006/main">
            <a:off x="6667500" y="19050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7D83"/>
                </a:solidFill>
                <a:latin typeface="Arial"/>
                <a:ea typeface="Arial"/>
                <a:cs typeface="Arial"/>
              </a:defRPr>
            </a:defPPr>
            <a:lvl1pPr>
              <a:defRPr sz="2400" b="1">
                <a:solidFill>
                  <a:srgbClr val="147D83"/>
                </a:solidFill>
                <a:latin typeface="Arial"/>
                <a:ea typeface="Arial"/>
                <a:cs typeface="Arial"/>
              </a:defRPr>
            </a:lvl1pPr>
            <a:lvl2pPr>
              <a:defRPr sz="2400" b="1">
                <a:solidFill>
                  <a:srgbClr val="147D83"/>
                </a:solidFill>
                <a:latin typeface="Arial"/>
                <a:ea typeface="Arial"/>
                <a:cs typeface="Arial"/>
              </a:defRPr>
            </a:lvl2pPr>
            <a:lvl3pPr>
              <a:defRPr sz="2400" b="1">
                <a:solidFill>
                  <a:srgbClr val="147D83"/>
                </a:solidFill>
                <a:latin typeface="Arial"/>
                <a:ea typeface="Arial"/>
                <a:cs typeface="Arial"/>
              </a:defRPr>
            </a:lvl3pPr>
            <a:lvl4pPr>
              <a:defRPr sz="2400" b="1">
                <a:solidFill>
                  <a:srgbClr val="147D83"/>
                </a:solidFill>
                <a:latin typeface="Arial"/>
                <a:ea typeface="Arial"/>
                <a:cs typeface="Arial"/>
              </a:defRPr>
            </a:lvl4pPr>
            <a:lvl5pPr>
              <a:defRPr sz="2400" b="1">
                <a:solidFill>
                  <a:srgbClr val="147D83"/>
                </a:solidFill>
                <a:latin typeface="Arial"/>
                <a:ea typeface="Arial"/>
                <a:cs typeface="Arial"/>
              </a:defRPr>
            </a:lvl5pPr>
            <a:lvl6pPr>
              <a:defRPr sz="2400" b="1">
                <a:solidFill>
                  <a:srgbClr val="147D83"/>
                </a:solidFill>
                <a:latin typeface="Arial"/>
                <a:ea typeface="Arial"/>
                <a:cs typeface="Arial"/>
              </a:defRPr>
            </a:lvl6pPr>
            <a:lvl7pPr>
              <a:defRPr sz="2400" b="1">
                <a:solidFill>
                  <a:srgbClr val="147D83"/>
                </a:solidFill>
                <a:latin typeface="Arial"/>
                <a:ea typeface="Arial"/>
                <a:cs typeface="Arial"/>
              </a:defRPr>
            </a:lvl7pPr>
            <a:lvl8pPr>
              <a:defRPr sz="2400" b="1">
                <a:solidFill>
                  <a:srgbClr val="147D83"/>
                </a:solidFill>
                <a:latin typeface="Arial"/>
                <a:ea typeface="Arial"/>
                <a:cs typeface="Arial"/>
              </a:defRPr>
            </a:lvl8pPr>
            <a:lvl9pPr>
              <a:defRPr sz="2400" b="1">
                <a:solidFill>
                  <a:srgbClr val="147D83"/>
                </a:solidFill>
                <a:latin typeface="Arial"/>
                <a:ea typeface="Arial"/>
                <a:cs typeface="Arial"/>
              </a:defRPr>
            </a:lvl9pPr>
          </a:lstStyle>
          <a:p xmlns:a="http://schemas.openxmlformats.org/drawingml/2006/main">
            <a:pPr>
              <a:defRPr sz="2400" b="1">
                <a:solidFill>
                  <a:srgbClr val="147D83"/>
                </a:solidFill>
                <a:latin typeface="Arial"/>
                <a:ea typeface="Arial"/>
                <a:cs typeface="Arial"/>
              </a:defRPr>
            </a:pPr>
            <a:r>
              <a:rPr sz="2400" b="1">
                <a:solidFill>
                  <a:srgbClr val="147D83"/>
                </a:solidFill>
                <a:latin typeface="Arial"/>
                <a:ea typeface="Arial"/>
                <a:cs typeface="Arial"/>
              </a:rPr>
              <a:t>Thành viên app</a:t>
            </a:r>
          </a:p>
        </p:txBody>
      </p:sp>
      <p:sp>
        <p:nvSpPr>
          <p:cNvPr id="7" name="">
            <a:extLst xmlns:a="http://schemas.openxmlformats.org/drawingml/2006/main">
              <a:ext uri="{FF2B5EF4-FFF2-40B4-BE49-F238E27FC236}">
                <a16:creationId xmlns:a16="http://schemas.microsoft.com/office/drawing/2014/main" id="{E4CBC13D-4A8C-49D3-9976-8A925728EE4A}"/>
              </a:ext>
            </a:extLst>
          </p:cNvPr>
          <p:cNvSpPr>
            <a:spLocks xmlns:a="http://schemas.openxmlformats.org/drawingml/2006/main" noGrp="1"/>
          </p:cNvSpPr>
          <p:nvPr/>
        </p:nvSpPr>
        <p:spPr>
          <a:xfrm xmlns:a="http://schemas.openxmlformats.org/drawingml/2006/main">
            <a:off x="6667500" y="2667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942"/>
                </a:solidFill>
                <a:latin typeface="Arial"/>
                <a:ea typeface="Arial"/>
                <a:cs typeface="Arial"/>
              </a:defRPr>
            </a:defPPr>
            <a:lvl1pPr>
              <a:defRPr sz="2175" b="0">
                <a:solidFill>
                  <a:srgbClr val="183942"/>
                </a:solidFill>
                <a:latin typeface="Arial"/>
                <a:ea typeface="Arial"/>
                <a:cs typeface="Arial"/>
              </a:defRPr>
            </a:lvl1pPr>
            <a:lvl2pPr>
              <a:defRPr sz="2175" b="0">
                <a:solidFill>
                  <a:srgbClr val="183942"/>
                </a:solidFill>
                <a:latin typeface="Arial"/>
                <a:ea typeface="Arial"/>
                <a:cs typeface="Arial"/>
              </a:defRPr>
            </a:lvl2pPr>
            <a:lvl3pPr>
              <a:defRPr sz="2175" b="0">
                <a:solidFill>
                  <a:srgbClr val="183942"/>
                </a:solidFill>
                <a:latin typeface="Arial"/>
                <a:ea typeface="Arial"/>
                <a:cs typeface="Arial"/>
              </a:defRPr>
            </a:lvl3pPr>
            <a:lvl4pPr>
              <a:defRPr sz="2175" b="0">
                <a:solidFill>
                  <a:srgbClr val="183942"/>
                </a:solidFill>
                <a:latin typeface="Arial"/>
                <a:ea typeface="Arial"/>
                <a:cs typeface="Arial"/>
              </a:defRPr>
            </a:lvl4pPr>
            <a:lvl5pPr>
              <a:defRPr sz="2175" b="0">
                <a:solidFill>
                  <a:srgbClr val="183942"/>
                </a:solidFill>
                <a:latin typeface="Arial"/>
                <a:ea typeface="Arial"/>
                <a:cs typeface="Arial"/>
              </a:defRPr>
            </a:lvl5pPr>
            <a:lvl6pPr>
              <a:defRPr sz="2175" b="0">
                <a:solidFill>
                  <a:srgbClr val="183942"/>
                </a:solidFill>
                <a:latin typeface="Arial"/>
                <a:ea typeface="Arial"/>
                <a:cs typeface="Arial"/>
              </a:defRPr>
            </a:lvl6pPr>
            <a:lvl7pPr>
              <a:defRPr sz="2175" b="0">
                <a:solidFill>
                  <a:srgbClr val="183942"/>
                </a:solidFill>
                <a:latin typeface="Arial"/>
                <a:ea typeface="Arial"/>
                <a:cs typeface="Arial"/>
              </a:defRPr>
            </a:lvl7pPr>
            <a:lvl8pPr>
              <a:defRPr sz="2175" b="0">
                <a:solidFill>
                  <a:srgbClr val="183942"/>
                </a:solidFill>
                <a:latin typeface="Arial"/>
                <a:ea typeface="Arial"/>
                <a:cs typeface="Arial"/>
              </a:defRPr>
            </a:lvl8pPr>
            <a:lvl9pPr>
              <a:defRPr sz="2175" b="0">
                <a:solidFill>
                  <a:srgbClr val="183942"/>
                </a:solidFill>
                <a:latin typeface="Arial"/>
                <a:ea typeface="Arial"/>
                <a:cs typeface="Arial"/>
              </a:defRPr>
            </a:lvl9pPr>
          </a:lstStyle>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Upload, preview và evidence</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API worker, timeout và validation</a:t>
            </a:r>
          </a:p>
          <a:p xmlns:a="http://schemas.openxmlformats.org/drawingml/2006/main">
            <a:pPr>
              <a:defRPr sz="2175" b="0">
                <a:solidFill>
                  <a:srgbClr val="183942"/>
                </a:solidFill>
                <a:latin typeface="Arial"/>
                <a:ea typeface="Arial"/>
                <a:cs typeface="Arial"/>
              </a:defRPr>
            </a:pPr>
            <a:r>
              <a:rPr sz="2175" b="0">
                <a:solidFill>
                  <a:srgbClr val="183942"/>
                </a:solidFill>
                <a:latin typeface="Arial"/>
                <a:ea typeface="Arial"/>
                <a:cs typeface="Arial"/>
              </a:rPr>
              <a:t>Giao diện và hướng dẫn sử dụng</a:t>
            </a:r>
          </a:p>
        </p:txBody>
      </p:sp>
      <p:sp>
        <p:nvSpPr>
          <p:cNvPr id="8" name="">
            <a:extLst xmlns:a="http://schemas.openxmlformats.org/drawingml/2006/main">
              <a:ext uri="{FF2B5EF4-FFF2-40B4-BE49-F238E27FC236}">
                <a16:creationId xmlns:a16="http://schemas.microsoft.com/office/drawing/2014/main" id="{A9F309FB-18CC-495D-BFF9-DCA28D4C6CC5}"/>
              </a:ext>
            </a:extLst>
          </p:cNvPr>
          <p:cNvSpPr>
            <a:spLocks xmlns:a="http://schemas.openxmlformats.org/drawingml/2006/main" noGrp="1"/>
          </p:cNvSpPr>
          <p:nvPr/>
        </p:nvSpPr>
        <p:spPr>
          <a:xfrm xmlns:a="http://schemas.openxmlformats.org/drawingml/2006/main">
            <a:off x="609600" y="50958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942"/>
                </a:solidFill>
                <a:latin typeface="Arial"/>
                <a:ea typeface="Arial"/>
                <a:cs typeface="Arial"/>
              </a:defRPr>
            </a:defPPr>
            <a:lvl1pPr>
              <a:defRPr sz="2025" b="1">
                <a:solidFill>
                  <a:srgbClr val="183942"/>
                </a:solidFill>
                <a:latin typeface="Arial"/>
                <a:ea typeface="Arial"/>
                <a:cs typeface="Arial"/>
              </a:defRPr>
            </a:lvl1pPr>
            <a:lvl2pPr>
              <a:defRPr sz="2025" b="1">
                <a:solidFill>
                  <a:srgbClr val="183942"/>
                </a:solidFill>
                <a:latin typeface="Arial"/>
                <a:ea typeface="Arial"/>
                <a:cs typeface="Arial"/>
              </a:defRPr>
            </a:lvl2pPr>
            <a:lvl3pPr>
              <a:defRPr sz="2025" b="1">
                <a:solidFill>
                  <a:srgbClr val="183942"/>
                </a:solidFill>
                <a:latin typeface="Arial"/>
                <a:ea typeface="Arial"/>
                <a:cs typeface="Arial"/>
              </a:defRPr>
            </a:lvl3pPr>
            <a:lvl4pPr>
              <a:defRPr sz="2025" b="1">
                <a:solidFill>
                  <a:srgbClr val="183942"/>
                </a:solidFill>
                <a:latin typeface="Arial"/>
                <a:ea typeface="Arial"/>
                <a:cs typeface="Arial"/>
              </a:defRPr>
            </a:lvl4pPr>
            <a:lvl5pPr>
              <a:defRPr sz="2025" b="1">
                <a:solidFill>
                  <a:srgbClr val="183942"/>
                </a:solidFill>
                <a:latin typeface="Arial"/>
                <a:ea typeface="Arial"/>
                <a:cs typeface="Arial"/>
              </a:defRPr>
            </a:lvl5pPr>
            <a:lvl6pPr>
              <a:defRPr sz="2025" b="1">
                <a:solidFill>
                  <a:srgbClr val="183942"/>
                </a:solidFill>
                <a:latin typeface="Arial"/>
                <a:ea typeface="Arial"/>
                <a:cs typeface="Arial"/>
              </a:defRPr>
            </a:lvl6pPr>
            <a:lvl7pPr>
              <a:defRPr sz="2025" b="1">
                <a:solidFill>
                  <a:srgbClr val="183942"/>
                </a:solidFill>
                <a:latin typeface="Arial"/>
                <a:ea typeface="Arial"/>
                <a:cs typeface="Arial"/>
              </a:defRPr>
            </a:lvl7pPr>
            <a:lvl8pPr>
              <a:defRPr sz="2025" b="1">
                <a:solidFill>
                  <a:srgbClr val="183942"/>
                </a:solidFill>
                <a:latin typeface="Arial"/>
                <a:ea typeface="Arial"/>
                <a:cs typeface="Arial"/>
              </a:defRPr>
            </a:lvl8pPr>
            <a:lvl9pPr>
              <a:defRPr sz="2025" b="1">
                <a:solidFill>
                  <a:srgbClr val="183942"/>
                </a:solidFill>
                <a:latin typeface="Arial"/>
                <a:ea typeface="Arial"/>
                <a:cs typeface="Arial"/>
              </a:defRPr>
            </a:lvl9pPr>
          </a:lstStyle>
          <a:p xmlns:a="http://schemas.openxmlformats.org/drawingml/2006/main">
            <a:pPr>
              <a:defRPr sz="2025" b="1">
                <a:solidFill>
                  <a:srgbClr val="183942"/>
                </a:solidFill>
                <a:latin typeface="Arial"/>
                <a:ea typeface="Arial"/>
                <a:cs typeface="Arial"/>
              </a:defRPr>
            </a:pPr>
            <a:r>
              <a:rPr sz="2025" b="1">
                <a:solidFill>
                  <a:srgbClr val="183942"/>
                </a:solidFill>
                <a:latin typeface="Arial"/>
                <a:ea typeface="Arial"/>
                <a:cs typeface="Arial"/>
              </a:rPr>
              <a:t>Còn lại: nhãn pilot và metric chung, máy thứ hai, quay demo</a:t>
            </a:r>
          </a:p>
          <a:p xmlns:a="http://schemas.openxmlformats.org/drawingml/2006/main">
            <a:pPr>
              <a:defRPr sz="2025" b="1">
                <a:solidFill>
                  <a:srgbClr val="183942"/>
                </a:solidFill>
                <a:latin typeface="Arial"/>
                <a:ea typeface="Arial"/>
                <a:cs typeface="Arial"/>
              </a:defRPr>
            </a:pPr>
            <a:r>
              <a:rPr sz="2025" b="1">
                <a:solidFill>
                  <a:srgbClr val="183942"/>
                </a:solidFill>
                <a:latin typeface="Arial"/>
                <a:ea typeface="Arial"/>
                <a:cs typeface="Arial"/>
              </a:rPr>
              <a:t>Báo cáo cần bổ sung thông tin sinh viên theo mẫu giảng viên</a:t>
            </a:r>
          </a:p>
        </p:txBody>
      </p:sp>
    </p:spTree>
    <p:extLst>
      <p:ext uri="{BB962C8B-B14F-4D97-AF65-F5344CB8AC3E}">
        <p14:creationId xmlns:p14="http://schemas.microsoft.com/office/powerpoint/2010/main" val="1563402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2026-10-18T14:05:11.9770000Z</dcterms:created>
  <dcterms:modified xsi:type="dcterms:W3CDTF">2026-10-18T14:05:11.9770000Z</dcterms:modified>
</coreProperties>
</file>